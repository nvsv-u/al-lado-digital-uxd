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000000"/>
          </p15:clr>
        </p15:guide>
        <p15:guide id="2" orient="horz" pos="1620">
          <p15:clr>
            <a:srgbClr val="000000"/>
          </p15:clr>
        </p15:guide>
      </p15:sldGuideLst>
    </p:ext>
    <p:ext uri="GoogleSlidesCustomDataVersion2">
      <go:slidesCustomData xmlns:go="http://customooxmlschemas.google.com/" r:id="rId10" roundtripDataSignature="AMtx7mjh/rsKPC0B7doMkDF2fa6yP572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customschemas.google.com/relationships/presentationmetadata" Target="meta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Celia Márquez — Requester · Older adult.</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Roberto Pérez — Volunteer · Club peer facilitator.</a:t>
            </a:r>
            <a:endParaRPr/>
          </a:p>
        </p:txBody>
      </p:sp>
      <p:sp>
        <p:nvSpPr>
          <p:cNvPr id="75" name="Google Shape;7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Andrés Rivera — Municipal coordinator.</a:t>
            </a:r>
            <a:endParaRP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Sofía Morales — Volunteer · Student.</a:t>
            </a:r>
            <a:endParaRPr/>
          </a:p>
        </p:txBody>
      </p:sp>
      <p:sp>
        <p:nvSpPr>
          <p:cNvPr id="179" name="Google Shape;1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Persona">
    <p:bg>
      <p:bgPr>
        <a:solidFill>
          <a:schemeClr val="lt2"/>
        </a:solidFill>
      </p:bgPr>
    </p:bg>
    <p:spTree>
      <p:nvGrpSpPr>
        <p:cNvPr id="10" name="Shape 10"/>
        <p:cNvGrpSpPr/>
        <p:nvPr/>
      </p:nvGrpSpPr>
      <p:grpSpPr>
        <a:xfrm>
          <a:off x="0" y="0"/>
          <a:ext cx="0" cy="0"/>
          <a:chOff x="0" y="0"/>
          <a:chExt cx="0" cy="0"/>
        </a:xfrm>
      </p:grpSpPr>
      <p:sp>
        <p:nvSpPr>
          <p:cNvPr id="11" name="Google Shape;11;p6"/>
          <p:cNvSpPr txBox="1"/>
          <p:nvPr>
            <p:ph type="title"/>
          </p:nvPr>
        </p:nvSpPr>
        <p:spPr>
          <a:xfrm>
            <a:off x="274320" y="1810512"/>
            <a:ext cx="2560320" cy="41148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lt1"/>
              </a:buClr>
              <a:buSzPts val="2200"/>
              <a:buFont typeface="Cambria"/>
              <a:buNone/>
              <a:defRPr b="1" i="0" sz="22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chemeClr val="dk2"/>
        </a:solidFill>
      </p:bgPr>
    </p:bg>
    <p:spTree>
      <p:nvGrpSpPr>
        <p:cNvPr id="13" name="Shape 13"/>
        <p:cNvGrpSpPr/>
        <p:nvPr/>
      </p:nvGrpSpPr>
      <p:grpSpPr>
        <a:xfrm>
          <a:off x="0" y="0"/>
          <a:ext cx="0" cy="0"/>
          <a:chOff x="0" y="0"/>
          <a:chExt cx="0" cy="0"/>
        </a:xfrm>
      </p:grpSpPr>
      <p:sp>
        <p:nvSpPr>
          <p:cNvPr id="14" name="Google Shape;14;p8"/>
          <p:cNvSpPr txBox="1"/>
          <p:nvPr>
            <p:ph type="title"/>
          </p:nvPr>
        </p:nvSpPr>
        <p:spPr>
          <a:xfrm>
            <a:off x="548640" y="1417320"/>
            <a:ext cx="4572000"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800"/>
              <a:buFont typeface="Cambria"/>
              <a:buNone/>
              <a:defRPr b="1" i="0" sz="4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8"/>
          <p:cNvSpPr txBox="1"/>
          <p:nvPr>
            <p:ph idx="1" type="body"/>
          </p:nvPr>
        </p:nvSpPr>
        <p:spPr>
          <a:xfrm>
            <a:off x="548640" y="2377440"/>
            <a:ext cx="4389120" cy="7315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Clr>
                <a:schemeClr val="lt2"/>
              </a:buClr>
              <a:buSzPts val="1800"/>
              <a:buFont typeface="Arial"/>
              <a:buNone/>
              <a:defRPr b="0" i="0" sz="1800" u="none" cap="none" strike="noStrike">
                <a:solidFill>
                  <a:schemeClr val="lt2"/>
                </a:solidFill>
                <a:latin typeface="Calibri"/>
                <a:ea typeface="Calibri"/>
                <a:cs typeface="Calibri"/>
                <a:sym typeface="Calibri"/>
              </a:defRPr>
            </a:lvl1pPr>
            <a:lvl2pPr indent="-406400" lvl="1" marL="914400" marR="0" rtl="0" algn="l">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 Id="rId11" Type="http://schemas.openxmlformats.org/officeDocument/2006/relationships/image" Target="../media/image12.png"/><Relationship Id="rId10" Type="http://schemas.openxmlformats.org/officeDocument/2006/relationships/image" Target="../media/image8.png"/><Relationship Id="rId12" Type="http://schemas.openxmlformats.org/officeDocument/2006/relationships/image" Target="../media/image20.jpg"/><Relationship Id="rId9"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 Id="rId11" Type="http://schemas.openxmlformats.org/officeDocument/2006/relationships/image" Target="../media/image14.png"/><Relationship Id="rId10" Type="http://schemas.openxmlformats.org/officeDocument/2006/relationships/image" Target="../media/image8.png"/><Relationship Id="rId12" Type="http://schemas.openxmlformats.org/officeDocument/2006/relationships/image" Target="../media/image35.png"/><Relationship Id="rId9"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11" Type="http://schemas.openxmlformats.org/officeDocument/2006/relationships/image" Target="../media/image33.png"/><Relationship Id="rId10" Type="http://schemas.openxmlformats.org/officeDocument/2006/relationships/image" Target="../media/image8.png"/><Relationship Id="rId12" Type="http://schemas.openxmlformats.org/officeDocument/2006/relationships/image" Target="../media/image28.jpg"/><Relationship Id="rId9"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3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7.png"/><Relationship Id="rId11" Type="http://schemas.openxmlformats.org/officeDocument/2006/relationships/image" Target="../media/image39.png"/><Relationship Id="rId10" Type="http://schemas.openxmlformats.org/officeDocument/2006/relationships/image" Target="../media/image8.png"/><Relationship Id="rId12" Type="http://schemas.openxmlformats.org/officeDocument/2006/relationships/image" Target="../media/image40.png"/><Relationship Id="rId9" Type="http://schemas.openxmlformats.org/officeDocument/2006/relationships/image" Target="../media/image4.png"/><Relationship Id="rId5" Type="http://schemas.openxmlformats.org/officeDocument/2006/relationships/image" Target="../media/image16.png"/><Relationship Id="rId6" Type="http://schemas.openxmlformats.org/officeDocument/2006/relationships/image" Target="../media/image13.png"/><Relationship Id="rId7" Type="http://schemas.openxmlformats.org/officeDocument/2006/relationships/image" Target="../media/image1.png"/><Relationship Id="rId8"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1"/>
          <p:cNvSpPr/>
          <p:nvPr/>
        </p:nvSpPr>
        <p:spPr>
          <a:xfrm>
            <a:off x="0" y="0"/>
            <a:ext cx="310896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914400" y="3749040"/>
            <a:ext cx="2377440" cy="2377440"/>
          </a:xfrm>
          <a:prstGeom prst="ellipse">
            <a:avLst/>
          </a:prstGeom>
          <a:solidFill>
            <a:schemeClr val="lt1">
              <a:alpha val="784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2286000" y="-548640"/>
            <a:ext cx="1463040" cy="1463040"/>
          </a:xfrm>
          <a:prstGeom prst="ellipse">
            <a:avLst/>
          </a:prstGeom>
          <a:solidFill>
            <a:schemeClr val="lt1">
              <a:alpha val="705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960120" y="502920"/>
            <a:ext cx="1188720" cy="1188720"/>
          </a:xfrm>
          <a:prstGeom prst="ellipse">
            <a:avLst/>
          </a:prstGeom>
          <a:solidFill>
            <a:schemeClr val="lt1">
              <a:alpha val="0"/>
            </a:schemeClr>
          </a:solidFill>
          <a:ln cap="flat" cmpd="sng" w="15875">
            <a:solidFill>
              <a:schemeClr val="lt1">
                <a:alpha val="6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1051560" y="594360"/>
            <a:ext cx="1005840" cy="10058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txBox="1"/>
          <p:nvPr/>
        </p:nvSpPr>
        <p:spPr>
          <a:xfrm>
            <a:off x="1051560" y="5943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2800"/>
              <a:buFont typeface="Cambria"/>
              <a:buNone/>
            </a:pPr>
            <a:r>
              <a:rPr b="1" i="0" lang="en-US" sz="2800" u="none" cap="none" strike="noStrike">
                <a:solidFill>
                  <a:schemeClr val="accent1"/>
                </a:solidFill>
                <a:latin typeface="Cambria"/>
                <a:ea typeface="Cambria"/>
                <a:cs typeface="Cambria"/>
                <a:sym typeface="Cambria"/>
              </a:rPr>
              <a:t>CM</a:t>
            </a:r>
            <a:endParaRPr b="0" i="0" sz="2800" u="none" cap="none" strike="noStrike">
              <a:solidFill>
                <a:schemeClr val="dk1"/>
              </a:solidFill>
              <a:latin typeface="Calibri"/>
              <a:ea typeface="Calibri"/>
              <a:cs typeface="Calibri"/>
              <a:sym typeface="Calibri"/>
            </a:endParaRPr>
          </a:p>
        </p:txBody>
      </p:sp>
      <p:sp>
        <p:nvSpPr>
          <p:cNvPr id="27" name="Google Shape;27;p1"/>
          <p:cNvSpPr txBox="1"/>
          <p:nvPr>
            <p:ph type="title"/>
          </p:nvPr>
        </p:nvSpPr>
        <p:spPr>
          <a:xfrm>
            <a:off x="274320" y="1810512"/>
            <a:ext cx="2560320" cy="4114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2200"/>
              <a:buFont typeface="Cambria"/>
              <a:buNone/>
            </a:pPr>
            <a:r>
              <a:rPr b="1" lang="en-US" sz="2200">
                <a:solidFill>
                  <a:schemeClr val="lt1"/>
                </a:solidFill>
                <a:latin typeface="Cambria"/>
                <a:ea typeface="Cambria"/>
                <a:cs typeface="Cambria"/>
                <a:sym typeface="Cambria"/>
              </a:rPr>
              <a:t>Celia Márquez</a:t>
            </a:r>
            <a:endParaRPr sz="2200"/>
          </a:p>
        </p:txBody>
      </p:sp>
      <p:sp>
        <p:nvSpPr>
          <p:cNvPr id="28" name="Google Shape;28;p1"/>
          <p:cNvSpPr/>
          <p:nvPr/>
        </p:nvSpPr>
        <p:spPr>
          <a:xfrm>
            <a:off x="633679" y="2286000"/>
            <a:ext cx="1841602" cy="274320"/>
          </a:xfrm>
          <a:prstGeom prst="roundRect">
            <a:avLst>
              <a:gd fmla="val 50000" name="adj"/>
            </a:avLst>
          </a:pr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txBox="1"/>
          <p:nvPr/>
        </p:nvSpPr>
        <p:spPr>
          <a:xfrm>
            <a:off x="633679" y="2286000"/>
            <a:ext cx="184160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50"/>
              <a:buFont typeface="Calibri"/>
              <a:buNone/>
            </a:pPr>
            <a:r>
              <a:rPr b="1" i="0" lang="en-US" sz="950" u="none" cap="none" strike="noStrike">
                <a:solidFill>
                  <a:schemeClr val="lt1"/>
                </a:solidFill>
                <a:latin typeface="Calibri"/>
                <a:ea typeface="Calibri"/>
                <a:cs typeface="Calibri"/>
                <a:sym typeface="Calibri"/>
              </a:rPr>
              <a:t>Requester · Older adult</a:t>
            </a:r>
            <a:endParaRPr b="0" i="0" sz="950" u="none" cap="none" strike="noStrike">
              <a:solidFill>
                <a:schemeClr val="dk1"/>
              </a:solidFill>
              <a:latin typeface="Calibri"/>
              <a:ea typeface="Calibri"/>
              <a:cs typeface="Calibri"/>
              <a:sym typeface="Calibri"/>
            </a:endParaRPr>
          </a:p>
        </p:txBody>
      </p:sp>
      <p:pic>
        <p:nvPicPr>
          <p:cNvPr descr="preencoded.png" id="30" name="Google Shape;30;p1"/>
          <p:cNvPicPr preferRelativeResize="0"/>
          <p:nvPr/>
        </p:nvPicPr>
        <p:blipFill rotWithShape="1">
          <a:blip r:embed="rId3">
            <a:alphaModFix/>
          </a:blip>
          <a:srcRect b="0" l="0" r="0" t="0"/>
          <a:stretch/>
        </p:blipFill>
        <p:spPr>
          <a:xfrm>
            <a:off x="365760" y="2825496"/>
            <a:ext cx="201168" cy="201168"/>
          </a:xfrm>
          <a:prstGeom prst="rect">
            <a:avLst/>
          </a:prstGeom>
          <a:noFill/>
          <a:ln>
            <a:noFill/>
          </a:ln>
        </p:spPr>
      </p:pic>
      <p:sp>
        <p:nvSpPr>
          <p:cNvPr id="31" name="Google Shape;31;p1"/>
          <p:cNvSpPr txBox="1"/>
          <p:nvPr/>
        </p:nvSpPr>
        <p:spPr>
          <a:xfrm>
            <a:off x="658368" y="2788920"/>
            <a:ext cx="64008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AGE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74</a:t>
            </a:r>
            <a:endParaRPr b="0" i="0" sz="750" u="none" cap="none" strike="noStrike">
              <a:solidFill>
                <a:schemeClr val="dk1"/>
              </a:solidFill>
              <a:latin typeface="Calibri"/>
              <a:ea typeface="Calibri"/>
              <a:cs typeface="Calibri"/>
              <a:sym typeface="Calibri"/>
            </a:endParaRPr>
          </a:p>
        </p:txBody>
      </p:sp>
      <p:pic>
        <p:nvPicPr>
          <p:cNvPr descr="preencoded.png" id="32" name="Google Shape;32;p1"/>
          <p:cNvPicPr preferRelativeResize="0"/>
          <p:nvPr/>
        </p:nvPicPr>
        <p:blipFill rotWithShape="1">
          <a:blip r:embed="rId4">
            <a:alphaModFix/>
          </a:blip>
          <a:srcRect b="0" l="0" r="0" t="0"/>
          <a:stretch/>
        </p:blipFill>
        <p:spPr>
          <a:xfrm>
            <a:off x="1371600" y="2825496"/>
            <a:ext cx="201168" cy="201168"/>
          </a:xfrm>
          <a:prstGeom prst="rect">
            <a:avLst/>
          </a:prstGeom>
          <a:noFill/>
          <a:ln>
            <a:noFill/>
          </a:ln>
        </p:spPr>
      </p:pic>
      <p:sp>
        <p:nvSpPr>
          <p:cNvPr id="33" name="Google Shape;33;p1"/>
          <p:cNvSpPr txBox="1"/>
          <p:nvPr/>
        </p:nvSpPr>
        <p:spPr>
          <a:xfrm>
            <a:off x="1664208" y="2788920"/>
            <a:ext cx="141732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LOCATION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Temuco, Chile</a:t>
            </a:r>
            <a:endParaRPr b="0" i="0" sz="750" u="none" cap="none" strike="noStrike">
              <a:solidFill>
                <a:schemeClr val="dk1"/>
              </a:solidFill>
              <a:latin typeface="Calibri"/>
              <a:ea typeface="Calibri"/>
              <a:cs typeface="Calibri"/>
              <a:sym typeface="Calibri"/>
            </a:endParaRPr>
          </a:p>
        </p:txBody>
      </p:sp>
      <p:pic>
        <p:nvPicPr>
          <p:cNvPr descr="preencoded.png" id="34" name="Google Shape;34;p1"/>
          <p:cNvPicPr preferRelativeResize="0"/>
          <p:nvPr/>
        </p:nvPicPr>
        <p:blipFill rotWithShape="1">
          <a:blip r:embed="rId5">
            <a:alphaModFix/>
          </a:blip>
          <a:srcRect b="0" l="0" r="0" t="0"/>
          <a:stretch/>
        </p:blipFill>
        <p:spPr>
          <a:xfrm>
            <a:off x="365760" y="3328416"/>
            <a:ext cx="201168" cy="201168"/>
          </a:xfrm>
          <a:prstGeom prst="rect">
            <a:avLst/>
          </a:prstGeom>
          <a:noFill/>
          <a:ln>
            <a:noFill/>
          </a:ln>
        </p:spPr>
      </p:pic>
      <p:sp>
        <p:nvSpPr>
          <p:cNvPr id="35" name="Google Shape;35;p1"/>
          <p:cNvSpPr txBox="1"/>
          <p:nvPr/>
        </p:nvSpPr>
        <p:spPr>
          <a:xfrm>
            <a:off x="658368" y="329184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OCCUPATION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Retired</a:t>
            </a:r>
            <a:endParaRPr b="0" i="0" sz="750" u="none" cap="none" strike="noStrike">
              <a:solidFill>
                <a:schemeClr val="dk1"/>
              </a:solidFill>
              <a:latin typeface="Calibri"/>
              <a:ea typeface="Calibri"/>
              <a:cs typeface="Calibri"/>
              <a:sym typeface="Calibri"/>
            </a:endParaRPr>
          </a:p>
        </p:txBody>
      </p:sp>
      <p:pic>
        <p:nvPicPr>
          <p:cNvPr descr="preencoded.png" id="36" name="Google Shape;36;p1"/>
          <p:cNvPicPr preferRelativeResize="0"/>
          <p:nvPr/>
        </p:nvPicPr>
        <p:blipFill rotWithShape="1">
          <a:blip r:embed="rId6">
            <a:alphaModFix/>
          </a:blip>
          <a:srcRect b="0" l="0" r="0" t="0"/>
          <a:stretch/>
        </p:blipFill>
        <p:spPr>
          <a:xfrm>
            <a:off x="365760" y="3831336"/>
            <a:ext cx="201168" cy="201168"/>
          </a:xfrm>
          <a:prstGeom prst="rect">
            <a:avLst/>
          </a:prstGeom>
          <a:noFill/>
          <a:ln>
            <a:noFill/>
          </a:ln>
        </p:spPr>
      </p:pic>
      <p:sp>
        <p:nvSpPr>
          <p:cNvPr id="37" name="Google Shape;37;p1"/>
          <p:cNvSpPr txBox="1"/>
          <p:nvPr/>
        </p:nvSpPr>
        <p:spPr>
          <a:xfrm>
            <a:off x="658368" y="379476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DEVICE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Mobile phone, basic use</a:t>
            </a:r>
            <a:endParaRPr b="0" i="0" sz="750" u="none" cap="none" strike="noStrike">
              <a:solidFill>
                <a:schemeClr val="dk1"/>
              </a:solidFill>
              <a:latin typeface="Calibri"/>
              <a:ea typeface="Calibri"/>
              <a:cs typeface="Calibri"/>
              <a:sym typeface="Calibri"/>
            </a:endParaRPr>
          </a:p>
        </p:txBody>
      </p:sp>
      <p:pic>
        <p:nvPicPr>
          <p:cNvPr descr="preencoded.png" id="38" name="Google Shape;38;p1"/>
          <p:cNvPicPr preferRelativeResize="0"/>
          <p:nvPr/>
        </p:nvPicPr>
        <p:blipFill rotWithShape="1">
          <a:blip r:embed="rId7">
            <a:alphaModFix/>
          </a:blip>
          <a:srcRect b="0" l="0" r="0" t="0"/>
          <a:stretch/>
        </p:blipFill>
        <p:spPr>
          <a:xfrm>
            <a:off x="365760" y="4334256"/>
            <a:ext cx="201168" cy="201168"/>
          </a:xfrm>
          <a:prstGeom prst="rect">
            <a:avLst/>
          </a:prstGeom>
          <a:noFill/>
          <a:ln>
            <a:noFill/>
          </a:ln>
        </p:spPr>
      </p:pic>
      <p:sp>
        <p:nvSpPr>
          <p:cNvPr id="39" name="Google Shape;39;p1"/>
          <p:cNvSpPr txBox="1"/>
          <p:nvPr/>
        </p:nvSpPr>
        <p:spPr>
          <a:xfrm>
            <a:off x="658368" y="429768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DIGITAL LEVEL</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Low</a:t>
            </a:r>
            <a:endParaRPr b="0" i="0" sz="750" u="none" cap="none" strike="noStrike">
              <a:solidFill>
                <a:schemeClr val="dk1"/>
              </a:solidFill>
              <a:latin typeface="Calibri"/>
              <a:ea typeface="Calibri"/>
              <a:cs typeface="Calibri"/>
              <a:sym typeface="Calibri"/>
            </a:endParaRPr>
          </a:p>
        </p:txBody>
      </p:sp>
      <p:sp>
        <p:nvSpPr>
          <p:cNvPr id="40" name="Google Shape;40;p1"/>
          <p:cNvSpPr/>
          <p:nvPr/>
        </p:nvSpPr>
        <p:spPr>
          <a:xfrm>
            <a:off x="1737360"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p:nvPr/>
        </p:nvSpPr>
        <p:spPr>
          <a:xfrm>
            <a:off x="1892808"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2048256"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
          <p:cNvSpPr/>
          <p:nvPr/>
        </p:nvSpPr>
        <p:spPr>
          <a:xfrm>
            <a:off x="2203704"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2359152"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
          <p:cNvSpPr/>
          <p:nvPr/>
        </p:nvSpPr>
        <p:spPr>
          <a:xfrm>
            <a:off x="3474720" y="365760"/>
            <a:ext cx="5303520" cy="914400"/>
          </a:xfrm>
          <a:prstGeom prst="roundRect">
            <a:avLst>
              <a:gd fmla="val 12000" name="adj"/>
            </a:avLst>
          </a:prstGeom>
          <a:solidFill>
            <a:schemeClr val="accent1">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 name="Google Shape;46;p1"/>
          <p:cNvPicPr preferRelativeResize="0"/>
          <p:nvPr/>
        </p:nvPicPr>
        <p:blipFill rotWithShape="1">
          <a:blip r:embed="rId8">
            <a:alphaModFix/>
          </a:blip>
          <a:srcRect b="0" l="0" r="0" t="0"/>
          <a:stretch/>
        </p:blipFill>
        <p:spPr>
          <a:xfrm>
            <a:off x="3657600" y="502920"/>
            <a:ext cx="292608" cy="292608"/>
          </a:xfrm>
          <a:prstGeom prst="rect">
            <a:avLst/>
          </a:prstGeom>
          <a:noFill/>
          <a:ln>
            <a:noFill/>
          </a:ln>
        </p:spPr>
      </p:pic>
      <p:sp>
        <p:nvSpPr>
          <p:cNvPr id="47" name="Google Shape;47;p1"/>
          <p:cNvSpPr txBox="1"/>
          <p:nvPr/>
        </p:nvSpPr>
        <p:spPr>
          <a:xfrm>
            <a:off x="4114800" y="411480"/>
            <a:ext cx="4526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Calibri"/>
              <a:buNone/>
            </a:pPr>
            <a:r>
              <a:rPr b="0" i="1" lang="en-US" sz="1150" u="none" cap="none" strike="noStrike">
                <a:solidFill>
                  <a:schemeClr val="dk1"/>
                </a:solidFill>
                <a:latin typeface="Calibri"/>
                <a:ea typeface="Calibri"/>
                <a:cs typeface="Calibri"/>
                <a:sym typeface="Calibri"/>
              </a:rPr>
              <a:t>My children live far away and I don't want to bother them every time I need to book an appointment. If someone from the club goes with me, I'll do it myself, but I'm not giving my passwords to just anyone.</a:t>
            </a:r>
            <a:endParaRPr b="0" i="0" sz="1150" u="none" cap="none" strike="noStrike">
              <a:solidFill>
                <a:schemeClr val="dk1"/>
              </a:solidFill>
              <a:latin typeface="Calibri"/>
              <a:ea typeface="Calibri"/>
              <a:cs typeface="Calibri"/>
              <a:sym typeface="Calibri"/>
            </a:endParaRPr>
          </a:p>
        </p:txBody>
      </p:sp>
      <p:sp>
        <p:nvSpPr>
          <p:cNvPr id="48" name="Google Shape;48;p1"/>
          <p:cNvSpPr txBox="1"/>
          <p:nvPr/>
        </p:nvSpPr>
        <p:spPr>
          <a:xfrm>
            <a:off x="3474720" y="1389888"/>
            <a:ext cx="530352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050"/>
              <a:buFont typeface="Calibri"/>
              <a:buNone/>
            </a:pPr>
            <a:r>
              <a:rPr b="1" i="0" lang="en-US" sz="1050" u="none" cap="none" strike="noStrike">
                <a:solidFill>
                  <a:schemeClr val="accent1"/>
                </a:solidFill>
                <a:latin typeface="Calibri"/>
                <a:ea typeface="Calibri"/>
                <a:cs typeface="Calibri"/>
                <a:sym typeface="Calibri"/>
              </a:rPr>
              <a:t>About Celia  </a:t>
            </a:r>
            <a:r>
              <a:rPr b="0" i="0" lang="en-US" sz="1050" u="none" cap="none" strike="noStrike">
                <a:solidFill>
                  <a:schemeClr val="dk1"/>
                </a:solidFill>
                <a:latin typeface="Calibri"/>
                <a:ea typeface="Calibri"/>
                <a:cs typeface="Calibri"/>
                <a:sym typeface="Calibri"/>
              </a:rPr>
              <a:t>Celia lives alone and her family lives in another city, so there isn't always someone available to help her with errands that now require connecting to an online platform, such as booking an appointment at the clinic. She belongs to a senior citizens' club.</a:t>
            </a:r>
            <a:endParaRPr b="0" i="0" sz="1050" u="none" cap="none" strike="noStrike">
              <a:solidFill>
                <a:schemeClr val="dk1"/>
              </a:solidFill>
              <a:latin typeface="Calibri"/>
              <a:ea typeface="Calibri"/>
              <a:cs typeface="Calibri"/>
              <a:sym typeface="Calibri"/>
            </a:endParaRPr>
          </a:p>
        </p:txBody>
      </p:sp>
      <p:sp>
        <p:nvSpPr>
          <p:cNvPr id="49" name="Google Shape;49;p1"/>
          <p:cNvSpPr/>
          <p:nvPr/>
        </p:nvSpPr>
        <p:spPr>
          <a:xfrm>
            <a:off x="347472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3657600" y="2221992"/>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1"/>
          <p:cNvPicPr preferRelativeResize="0"/>
          <p:nvPr/>
        </p:nvPicPr>
        <p:blipFill rotWithShape="1">
          <a:blip r:embed="rId9">
            <a:alphaModFix/>
          </a:blip>
          <a:srcRect b="0" l="0" r="0" t="0"/>
          <a:stretch/>
        </p:blipFill>
        <p:spPr>
          <a:xfrm>
            <a:off x="3730752" y="2295144"/>
            <a:ext cx="182880" cy="182880"/>
          </a:xfrm>
          <a:prstGeom prst="rect">
            <a:avLst/>
          </a:prstGeom>
          <a:noFill/>
          <a:ln>
            <a:noFill/>
          </a:ln>
        </p:spPr>
      </p:pic>
      <p:sp>
        <p:nvSpPr>
          <p:cNvPr id="52" name="Google Shape;52;p1"/>
          <p:cNvSpPr txBox="1"/>
          <p:nvPr/>
        </p:nvSpPr>
        <p:spPr>
          <a:xfrm>
            <a:off x="407822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Frustrations</a:t>
            </a:r>
            <a:endParaRPr b="0" i="0" sz="1300" u="none" cap="none" strike="noStrike">
              <a:solidFill>
                <a:schemeClr val="dk1"/>
              </a:solidFill>
              <a:latin typeface="Calibri"/>
              <a:ea typeface="Calibri"/>
              <a:cs typeface="Calibri"/>
              <a:sym typeface="Calibri"/>
            </a:endParaRPr>
          </a:p>
        </p:txBody>
      </p:sp>
      <p:sp>
        <p:nvSpPr>
          <p:cNvPr id="53" name="Google Shape;53;p1"/>
          <p:cNvSpPr txBox="1"/>
          <p:nvPr/>
        </p:nvSpPr>
        <p:spPr>
          <a:xfrm>
            <a:off x="363016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She depends on a relative or acquaintance being available to do her errands online.</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She is afraid of making a mistake or having her data stolen if she gives her passwords to a stranger.</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She can never be sure the errand was actually completed.</a:t>
            </a:r>
            <a:endParaRPr b="0" i="0" sz="1000" u="none" cap="none" strike="noStrike">
              <a:solidFill>
                <a:schemeClr val="dk1"/>
              </a:solidFill>
              <a:latin typeface="Calibri"/>
              <a:ea typeface="Calibri"/>
              <a:cs typeface="Calibri"/>
              <a:sym typeface="Calibri"/>
            </a:endParaRPr>
          </a:p>
        </p:txBody>
      </p:sp>
      <p:sp>
        <p:nvSpPr>
          <p:cNvPr id="54" name="Google Shape;54;p1"/>
          <p:cNvSpPr/>
          <p:nvPr/>
        </p:nvSpPr>
        <p:spPr>
          <a:xfrm>
            <a:off x="626364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
          <p:cNvSpPr/>
          <p:nvPr/>
        </p:nvSpPr>
        <p:spPr>
          <a:xfrm>
            <a:off x="6446520" y="2221992"/>
            <a:ext cx="329184" cy="329184"/>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 name="Google Shape;56;p1"/>
          <p:cNvPicPr preferRelativeResize="0"/>
          <p:nvPr/>
        </p:nvPicPr>
        <p:blipFill rotWithShape="1">
          <a:blip r:embed="rId10">
            <a:alphaModFix/>
          </a:blip>
          <a:srcRect b="0" l="0" r="0" t="0"/>
          <a:stretch/>
        </p:blipFill>
        <p:spPr>
          <a:xfrm>
            <a:off x="6519672" y="2295144"/>
            <a:ext cx="182880" cy="182880"/>
          </a:xfrm>
          <a:prstGeom prst="rect">
            <a:avLst/>
          </a:prstGeom>
          <a:noFill/>
          <a:ln>
            <a:noFill/>
          </a:ln>
        </p:spPr>
      </p:pic>
      <p:sp>
        <p:nvSpPr>
          <p:cNvPr id="57" name="Google Shape;57;p1"/>
          <p:cNvSpPr txBox="1"/>
          <p:nvPr/>
        </p:nvSpPr>
        <p:spPr>
          <a:xfrm>
            <a:off x="686714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Goals</a:t>
            </a:r>
            <a:endParaRPr b="0" i="0" sz="1300" u="none" cap="none" strike="noStrike">
              <a:solidFill>
                <a:schemeClr val="dk1"/>
              </a:solidFill>
              <a:latin typeface="Calibri"/>
              <a:ea typeface="Calibri"/>
              <a:cs typeface="Calibri"/>
              <a:sym typeface="Calibri"/>
            </a:endParaRPr>
          </a:p>
        </p:txBody>
      </p:sp>
      <p:sp>
        <p:nvSpPr>
          <p:cNvPr id="58" name="Google Shape;58;p1"/>
          <p:cNvSpPr txBox="1"/>
          <p:nvPr/>
        </p:nvSpPr>
        <p:spPr>
          <a:xfrm>
            <a:off x="641908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Receive help from a trusted person from the club.</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Book medical appointments easily.</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Keep control of her passwords.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Socialize.</a:t>
            </a:r>
            <a:endParaRPr b="0" i="0" sz="1000" u="none" cap="none" strike="noStrike">
              <a:solidFill>
                <a:schemeClr val="dk1"/>
              </a:solidFill>
              <a:latin typeface="Calibri"/>
              <a:ea typeface="Calibri"/>
              <a:cs typeface="Calibri"/>
              <a:sym typeface="Calibri"/>
            </a:endParaRPr>
          </a:p>
        </p:txBody>
      </p:sp>
      <p:pic>
        <p:nvPicPr>
          <p:cNvPr descr="preencoded.png" id="59" name="Google Shape;59;p1"/>
          <p:cNvPicPr preferRelativeResize="0"/>
          <p:nvPr/>
        </p:nvPicPr>
        <p:blipFill rotWithShape="1">
          <a:blip r:embed="rId11">
            <a:alphaModFix/>
          </a:blip>
          <a:srcRect b="0" l="0" r="0" t="0"/>
          <a:stretch/>
        </p:blipFill>
        <p:spPr>
          <a:xfrm>
            <a:off x="3474720" y="4261104"/>
            <a:ext cx="201168" cy="201168"/>
          </a:xfrm>
          <a:prstGeom prst="rect">
            <a:avLst/>
          </a:prstGeom>
          <a:noFill/>
          <a:ln>
            <a:noFill/>
          </a:ln>
        </p:spPr>
      </p:pic>
      <p:sp>
        <p:nvSpPr>
          <p:cNvPr id="60" name="Google Shape;60;p1"/>
          <p:cNvSpPr txBox="1"/>
          <p:nvPr/>
        </p:nvSpPr>
        <p:spPr>
          <a:xfrm>
            <a:off x="3730752" y="4224528"/>
            <a:ext cx="777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100"/>
              <a:buFont typeface="Calibri"/>
              <a:buNone/>
            </a:pPr>
            <a:r>
              <a:rPr b="1" i="0" lang="en-US" sz="1100" u="none" cap="none" strike="noStrike">
                <a:solidFill>
                  <a:schemeClr val="accent1"/>
                </a:solidFill>
                <a:latin typeface="Calibri"/>
                <a:ea typeface="Calibri"/>
                <a:cs typeface="Calibri"/>
                <a:sym typeface="Calibri"/>
              </a:rPr>
              <a:t>Interests</a:t>
            </a:r>
            <a:endParaRPr b="0" i="0" sz="1100" u="none" cap="none" strike="noStrike">
              <a:solidFill>
                <a:schemeClr val="dk1"/>
              </a:solidFill>
              <a:latin typeface="Calibri"/>
              <a:ea typeface="Calibri"/>
              <a:cs typeface="Calibri"/>
              <a:sym typeface="Calibri"/>
            </a:endParaRPr>
          </a:p>
        </p:txBody>
      </p:sp>
      <p:sp>
        <p:nvSpPr>
          <p:cNvPr id="61" name="Google Shape;61;p1"/>
          <p:cNvSpPr/>
          <p:nvPr/>
        </p:nvSpPr>
        <p:spPr>
          <a:xfrm>
            <a:off x="4526280" y="4224528"/>
            <a:ext cx="691286" cy="274320"/>
          </a:xfrm>
          <a:prstGeom prst="roundRect">
            <a:avLst>
              <a:gd fmla="val 50000" name="adj"/>
            </a:avLst>
          </a:prstGeom>
          <a:solidFill>
            <a:schemeClr val="accent1">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
          <p:cNvSpPr txBox="1"/>
          <p:nvPr/>
        </p:nvSpPr>
        <p:spPr>
          <a:xfrm>
            <a:off x="4526280" y="4224528"/>
            <a:ext cx="69128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950"/>
              <a:buFont typeface="Calibri"/>
              <a:buNone/>
            </a:pPr>
            <a:r>
              <a:rPr b="1" i="0" lang="en-US" sz="950" u="none" cap="none" strike="noStrike">
                <a:solidFill>
                  <a:schemeClr val="accent1"/>
                </a:solidFill>
                <a:latin typeface="Calibri"/>
                <a:ea typeface="Calibri"/>
                <a:cs typeface="Calibri"/>
                <a:sym typeface="Calibri"/>
              </a:rPr>
              <a:t>Knitting</a:t>
            </a:r>
            <a:endParaRPr b="0" i="0" sz="950" u="none" cap="none" strike="noStrike">
              <a:solidFill>
                <a:schemeClr val="dk1"/>
              </a:solidFill>
              <a:latin typeface="Calibri"/>
              <a:ea typeface="Calibri"/>
              <a:cs typeface="Calibri"/>
              <a:sym typeface="Calibri"/>
            </a:endParaRPr>
          </a:p>
        </p:txBody>
      </p:sp>
      <p:sp>
        <p:nvSpPr>
          <p:cNvPr id="63" name="Google Shape;63;p1"/>
          <p:cNvSpPr/>
          <p:nvPr/>
        </p:nvSpPr>
        <p:spPr>
          <a:xfrm>
            <a:off x="5327294" y="4224528"/>
            <a:ext cx="587045" cy="274320"/>
          </a:xfrm>
          <a:prstGeom prst="roundRect">
            <a:avLst>
              <a:gd fmla="val 50000" name="adj"/>
            </a:avLst>
          </a:prstGeom>
          <a:solidFill>
            <a:schemeClr val="accent1">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
          <p:cNvSpPr txBox="1"/>
          <p:nvPr/>
        </p:nvSpPr>
        <p:spPr>
          <a:xfrm>
            <a:off x="5327294" y="4224528"/>
            <a:ext cx="58704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950"/>
              <a:buFont typeface="Calibri"/>
              <a:buNone/>
            </a:pPr>
            <a:r>
              <a:rPr b="1" i="0" lang="en-US" sz="950" u="none" cap="none" strike="noStrike">
                <a:solidFill>
                  <a:schemeClr val="accent1"/>
                </a:solidFill>
                <a:latin typeface="Calibri"/>
                <a:ea typeface="Calibri"/>
                <a:cs typeface="Calibri"/>
                <a:sym typeface="Calibri"/>
              </a:rPr>
              <a:t>Nature</a:t>
            </a:r>
            <a:endParaRPr b="0" i="0" sz="950" u="none" cap="none" strike="noStrike">
              <a:solidFill>
                <a:schemeClr val="dk1"/>
              </a:solidFill>
              <a:latin typeface="Calibri"/>
              <a:ea typeface="Calibri"/>
              <a:cs typeface="Calibri"/>
              <a:sym typeface="Calibri"/>
            </a:endParaRPr>
          </a:p>
        </p:txBody>
      </p:sp>
      <p:sp>
        <p:nvSpPr>
          <p:cNvPr id="65" name="Google Shape;65;p1"/>
          <p:cNvSpPr/>
          <p:nvPr/>
        </p:nvSpPr>
        <p:spPr>
          <a:xfrm>
            <a:off x="6024067" y="4224528"/>
            <a:ext cx="1004011" cy="274320"/>
          </a:xfrm>
          <a:prstGeom prst="roundRect">
            <a:avLst>
              <a:gd fmla="val 50000" name="adj"/>
            </a:avLst>
          </a:prstGeom>
          <a:solidFill>
            <a:schemeClr val="accent1">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
          <p:cNvSpPr txBox="1"/>
          <p:nvPr/>
        </p:nvSpPr>
        <p:spPr>
          <a:xfrm>
            <a:off x="6024067" y="4224528"/>
            <a:ext cx="1004011"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950"/>
              <a:buFont typeface="Calibri"/>
              <a:buNone/>
            </a:pPr>
            <a:r>
              <a:rPr b="1" i="0" lang="en-US" sz="950" u="none" cap="none" strike="noStrike">
                <a:solidFill>
                  <a:schemeClr val="accent1"/>
                </a:solidFill>
                <a:latin typeface="Calibri"/>
                <a:ea typeface="Calibri"/>
                <a:cs typeface="Calibri"/>
                <a:sym typeface="Calibri"/>
              </a:rPr>
              <a:t>Romance novels</a:t>
            </a:r>
            <a:endParaRPr b="0" i="0" sz="950" u="none" cap="none" strike="noStrike">
              <a:solidFill>
                <a:schemeClr val="dk1"/>
              </a:solidFill>
              <a:latin typeface="Calibri"/>
              <a:ea typeface="Calibri"/>
              <a:cs typeface="Calibri"/>
              <a:sym typeface="Calibri"/>
            </a:endParaRPr>
          </a:p>
        </p:txBody>
      </p:sp>
      <p:sp>
        <p:nvSpPr>
          <p:cNvPr id="67" name="Google Shape;67;p1"/>
          <p:cNvSpPr/>
          <p:nvPr/>
        </p:nvSpPr>
        <p:spPr>
          <a:xfrm>
            <a:off x="7137806" y="4224528"/>
            <a:ext cx="1056132" cy="274320"/>
          </a:xfrm>
          <a:prstGeom prst="roundRect">
            <a:avLst>
              <a:gd fmla="val 50000" name="adj"/>
            </a:avLst>
          </a:prstGeom>
          <a:solidFill>
            <a:schemeClr val="accent1">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
          <p:cNvSpPr txBox="1"/>
          <p:nvPr/>
        </p:nvSpPr>
        <p:spPr>
          <a:xfrm>
            <a:off x="7137806" y="4224528"/>
            <a:ext cx="10561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950"/>
              <a:buFont typeface="Calibri"/>
              <a:buNone/>
            </a:pPr>
            <a:r>
              <a:rPr b="1" i="0" lang="en-US" sz="950" u="none" cap="none" strike="noStrike">
                <a:solidFill>
                  <a:schemeClr val="accent1"/>
                </a:solidFill>
                <a:latin typeface="Calibri"/>
                <a:ea typeface="Calibri"/>
                <a:cs typeface="Calibri"/>
                <a:sym typeface="Calibri"/>
              </a:rPr>
              <a:t>Classical music</a:t>
            </a:r>
            <a:endParaRPr b="0" i="0" sz="950" u="none" cap="none" strike="noStrike">
              <a:solidFill>
                <a:schemeClr val="dk1"/>
              </a:solidFill>
              <a:latin typeface="Calibri"/>
              <a:ea typeface="Calibri"/>
              <a:cs typeface="Calibri"/>
              <a:sym typeface="Calibri"/>
            </a:endParaRPr>
          </a:p>
        </p:txBody>
      </p:sp>
      <p:sp>
        <p:nvSpPr>
          <p:cNvPr id="69" name="Google Shape;69;p1"/>
          <p:cNvSpPr/>
          <p:nvPr/>
        </p:nvSpPr>
        <p:spPr>
          <a:xfrm>
            <a:off x="4526280" y="4572000"/>
            <a:ext cx="587045" cy="274320"/>
          </a:xfrm>
          <a:prstGeom prst="roundRect">
            <a:avLst>
              <a:gd fmla="val 50000" name="adj"/>
            </a:avLst>
          </a:prstGeom>
          <a:solidFill>
            <a:schemeClr val="accent1">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
          <p:cNvSpPr txBox="1"/>
          <p:nvPr/>
        </p:nvSpPr>
        <p:spPr>
          <a:xfrm>
            <a:off x="4526280" y="4572000"/>
            <a:ext cx="58704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950"/>
              <a:buFont typeface="Calibri"/>
              <a:buNone/>
            </a:pPr>
            <a:r>
              <a:rPr b="1" i="0" lang="en-US" sz="950" u="none" cap="none" strike="noStrike">
                <a:solidFill>
                  <a:schemeClr val="accent1"/>
                </a:solidFill>
                <a:latin typeface="Calibri"/>
                <a:ea typeface="Calibri"/>
                <a:cs typeface="Calibri"/>
                <a:sym typeface="Calibri"/>
              </a:rPr>
              <a:t>Plants</a:t>
            </a:r>
            <a:endParaRPr b="0" i="0" sz="950" u="none" cap="none" strike="noStrike">
              <a:solidFill>
                <a:schemeClr val="dk1"/>
              </a:solidFill>
              <a:latin typeface="Calibri"/>
              <a:ea typeface="Calibri"/>
              <a:cs typeface="Calibri"/>
              <a:sym typeface="Calibri"/>
            </a:endParaRPr>
          </a:p>
        </p:txBody>
      </p:sp>
      <p:pic>
        <p:nvPicPr>
          <p:cNvPr id="71" name="Google Shape;71;p1" title="imagen 1"/>
          <p:cNvPicPr preferRelativeResize="0"/>
          <p:nvPr/>
        </p:nvPicPr>
        <p:blipFill rotWithShape="1">
          <a:blip r:embed="rId12">
            <a:alphaModFix/>
          </a:blip>
          <a:srcRect b="0" l="0" r="33200" t="0"/>
          <a:stretch/>
        </p:blipFill>
        <p:spPr>
          <a:xfrm>
            <a:off x="885995" y="412220"/>
            <a:ext cx="1337000" cy="133429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2"/>
          <p:cNvSpPr/>
          <p:nvPr/>
        </p:nvSpPr>
        <p:spPr>
          <a:xfrm>
            <a:off x="0" y="0"/>
            <a:ext cx="310896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2"/>
          <p:cNvSpPr/>
          <p:nvPr/>
        </p:nvSpPr>
        <p:spPr>
          <a:xfrm>
            <a:off x="-914400" y="3749040"/>
            <a:ext cx="2377440" cy="2377440"/>
          </a:xfrm>
          <a:prstGeom prst="ellipse">
            <a:avLst/>
          </a:prstGeom>
          <a:solidFill>
            <a:schemeClr val="lt1">
              <a:alpha val="784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2286000" y="-548640"/>
            <a:ext cx="1463040" cy="1463040"/>
          </a:xfrm>
          <a:prstGeom prst="ellipse">
            <a:avLst/>
          </a:prstGeom>
          <a:solidFill>
            <a:schemeClr val="lt1">
              <a:alpha val="705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960120" y="502920"/>
            <a:ext cx="1188720" cy="1188720"/>
          </a:xfrm>
          <a:prstGeom prst="ellipse">
            <a:avLst/>
          </a:prstGeom>
          <a:solidFill>
            <a:schemeClr val="lt1">
              <a:alpha val="0"/>
            </a:schemeClr>
          </a:solidFill>
          <a:ln cap="flat" cmpd="sng" w="15875">
            <a:solidFill>
              <a:schemeClr val="lt1">
                <a:alpha val="6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051560" y="594360"/>
            <a:ext cx="1005840" cy="10058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txBox="1"/>
          <p:nvPr/>
        </p:nvSpPr>
        <p:spPr>
          <a:xfrm>
            <a:off x="1051560" y="5943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2800"/>
              <a:buFont typeface="Cambria"/>
              <a:buNone/>
            </a:pPr>
            <a:r>
              <a:rPr b="1" i="0" lang="en-US" sz="2800" u="none" cap="none" strike="noStrike">
                <a:solidFill>
                  <a:schemeClr val="accent2"/>
                </a:solidFill>
                <a:latin typeface="Cambria"/>
                <a:ea typeface="Cambria"/>
                <a:cs typeface="Cambria"/>
                <a:sym typeface="Cambria"/>
              </a:rPr>
              <a:t>RP</a:t>
            </a:r>
            <a:endParaRPr b="0" i="0" sz="2800" u="none" cap="none" strike="noStrike">
              <a:solidFill>
                <a:schemeClr val="dk1"/>
              </a:solidFill>
              <a:latin typeface="Calibri"/>
              <a:ea typeface="Calibri"/>
              <a:cs typeface="Calibri"/>
              <a:sym typeface="Calibri"/>
            </a:endParaRPr>
          </a:p>
        </p:txBody>
      </p:sp>
      <p:sp>
        <p:nvSpPr>
          <p:cNvPr id="83" name="Google Shape;83;p2"/>
          <p:cNvSpPr txBox="1"/>
          <p:nvPr>
            <p:ph type="title"/>
          </p:nvPr>
        </p:nvSpPr>
        <p:spPr>
          <a:xfrm>
            <a:off x="274320" y="1810512"/>
            <a:ext cx="2560320" cy="4114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2200"/>
              <a:buFont typeface="Cambria"/>
              <a:buNone/>
            </a:pPr>
            <a:r>
              <a:rPr b="1" lang="en-US" sz="2200">
                <a:solidFill>
                  <a:schemeClr val="lt1"/>
                </a:solidFill>
                <a:latin typeface="Cambria"/>
                <a:ea typeface="Cambria"/>
                <a:cs typeface="Cambria"/>
                <a:sym typeface="Cambria"/>
              </a:rPr>
              <a:t>Roberto Pérez</a:t>
            </a:r>
            <a:endParaRPr sz="2200"/>
          </a:p>
        </p:txBody>
      </p:sp>
      <p:sp>
        <p:nvSpPr>
          <p:cNvPr id="84" name="Google Shape;84;p2"/>
          <p:cNvSpPr/>
          <p:nvPr/>
        </p:nvSpPr>
        <p:spPr>
          <a:xfrm>
            <a:off x="322783" y="2286000"/>
            <a:ext cx="2463394" cy="274320"/>
          </a:xfrm>
          <a:prstGeom prst="roundRect">
            <a:avLst>
              <a:gd fmla="val 50000" name="adj"/>
            </a:avLst>
          </a:pr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txBox="1"/>
          <p:nvPr/>
        </p:nvSpPr>
        <p:spPr>
          <a:xfrm>
            <a:off x="322783" y="2286000"/>
            <a:ext cx="246339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50"/>
              <a:buFont typeface="Calibri"/>
              <a:buNone/>
            </a:pPr>
            <a:r>
              <a:rPr b="1" i="0" lang="en-US" sz="950" u="none" cap="none" strike="noStrike">
                <a:solidFill>
                  <a:schemeClr val="lt1"/>
                </a:solidFill>
                <a:latin typeface="Calibri"/>
                <a:ea typeface="Calibri"/>
                <a:cs typeface="Calibri"/>
                <a:sym typeface="Calibri"/>
              </a:rPr>
              <a:t>Volunteer · Club peer facilitator</a:t>
            </a:r>
            <a:endParaRPr b="0" i="0" sz="950" u="none" cap="none" strike="noStrike">
              <a:solidFill>
                <a:schemeClr val="dk1"/>
              </a:solidFill>
              <a:latin typeface="Calibri"/>
              <a:ea typeface="Calibri"/>
              <a:cs typeface="Calibri"/>
              <a:sym typeface="Calibri"/>
            </a:endParaRPr>
          </a:p>
        </p:txBody>
      </p:sp>
      <p:pic>
        <p:nvPicPr>
          <p:cNvPr descr="preencoded.png" id="86" name="Google Shape;86;p2"/>
          <p:cNvPicPr preferRelativeResize="0"/>
          <p:nvPr/>
        </p:nvPicPr>
        <p:blipFill rotWithShape="1">
          <a:blip r:embed="rId3">
            <a:alphaModFix/>
          </a:blip>
          <a:srcRect b="0" l="0" r="0" t="0"/>
          <a:stretch/>
        </p:blipFill>
        <p:spPr>
          <a:xfrm>
            <a:off x="365760" y="2825496"/>
            <a:ext cx="201168" cy="201168"/>
          </a:xfrm>
          <a:prstGeom prst="rect">
            <a:avLst/>
          </a:prstGeom>
          <a:noFill/>
          <a:ln>
            <a:noFill/>
          </a:ln>
        </p:spPr>
      </p:pic>
      <p:sp>
        <p:nvSpPr>
          <p:cNvPr id="87" name="Google Shape;87;p2"/>
          <p:cNvSpPr txBox="1"/>
          <p:nvPr/>
        </p:nvSpPr>
        <p:spPr>
          <a:xfrm>
            <a:off x="658368" y="2788920"/>
            <a:ext cx="64008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AGE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67</a:t>
            </a:r>
            <a:endParaRPr b="0" i="0" sz="750" u="none" cap="none" strike="noStrike">
              <a:solidFill>
                <a:schemeClr val="dk1"/>
              </a:solidFill>
              <a:latin typeface="Calibri"/>
              <a:ea typeface="Calibri"/>
              <a:cs typeface="Calibri"/>
              <a:sym typeface="Calibri"/>
            </a:endParaRPr>
          </a:p>
        </p:txBody>
      </p:sp>
      <p:pic>
        <p:nvPicPr>
          <p:cNvPr descr="preencoded.png" id="88" name="Google Shape;88;p2"/>
          <p:cNvPicPr preferRelativeResize="0"/>
          <p:nvPr/>
        </p:nvPicPr>
        <p:blipFill rotWithShape="1">
          <a:blip r:embed="rId4">
            <a:alphaModFix/>
          </a:blip>
          <a:srcRect b="0" l="0" r="0" t="0"/>
          <a:stretch/>
        </p:blipFill>
        <p:spPr>
          <a:xfrm>
            <a:off x="1371600" y="2825496"/>
            <a:ext cx="201168" cy="201168"/>
          </a:xfrm>
          <a:prstGeom prst="rect">
            <a:avLst/>
          </a:prstGeom>
          <a:noFill/>
          <a:ln>
            <a:noFill/>
          </a:ln>
        </p:spPr>
      </p:pic>
      <p:sp>
        <p:nvSpPr>
          <p:cNvPr id="89" name="Google Shape;89;p2"/>
          <p:cNvSpPr txBox="1"/>
          <p:nvPr/>
        </p:nvSpPr>
        <p:spPr>
          <a:xfrm>
            <a:off x="1664208" y="2788920"/>
            <a:ext cx="141732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LOCATION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Temuco, Chile</a:t>
            </a:r>
            <a:endParaRPr b="0" i="0" sz="750" u="none" cap="none" strike="noStrike">
              <a:solidFill>
                <a:schemeClr val="dk1"/>
              </a:solidFill>
              <a:latin typeface="Calibri"/>
              <a:ea typeface="Calibri"/>
              <a:cs typeface="Calibri"/>
              <a:sym typeface="Calibri"/>
            </a:endParaRPr>
          </a:p>
        </p:txBody>
      </p:sp>
      <p:pic>
        <p:nvPicPr>
          <p:cNvPr descr="preencoded.png" id="90" name="Google Shape;90;p2"/>
          <p:cNvPicPr preferRelativeResize="0"/>
          <p:nvPr/>
        </p:nvPicPr>
        <p:blipFill rotWithShape="1">
          <a:blip r:embed="rId5">
            <a:alphaModFix/>
          </a:blip>
          <a:srcRect b="0" l="0" r="0" t="0"/>
          <a:stretch/>
        </p:blipFill>
        <p:spPr>
          <a:xfrm>
            <a:off x="365760" y="3328416"/>
            <a:ext cx="201168" cy="201168"/>
          </a:xfrm>
          <a:prstGeom prst="rect">
            <a:avLst/>
          </a:prstGeom>
          <a:noFill/>
          <a:ln>
            <a:noFill/>
          </a:ln>
        </p:spPr>
      </p:pic>
      <p:sp>
        <p:nvSpPr>
          <p:cNvPr id="91" name="Google Shape;91;p2"/>
          <p:cNvSpPr txBox="1"/>
          <p:nvPr/>
        </p:nvSpPr>
        <p:spPr>
          <a:xfrm>
            <a:off x="658368" y="329184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OCCUPATION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Retired</a:t>
            </a:r>
            <a:endParaRPr b="0" i="0" sz="750" u="none" cap="none" strike="noStrike">
              <a:solidFill>
                <a:schemeClr val="dk1"/>
              </a:solidFill>
              <a:latin typeface="Calibri"/>
              <a:ea typeface="Calibri"/>
              <a:cs typeface="Calibri"/>
              <a:sym typeface="Calibri"/>
            </a:endParaRPr>
          </a:p>
        </p:txBody>
      </p:sp>
      <p:pic>
        <p:nvPicPr>
          <p:cNvPr descr="preencoded.png" id="92" name="Google Shape;92;p2"/>
          <p:cNvPicPr preferRelativeResize="0"/>
          <p:nvPr/>
        </p:nvPicPr>
        <p:blipFill rotWithShape="1">
          <a:blip r:embed="rId6">
            <a:alphaModFix/>
          </a:blip>
          <a:srcRect b="0" l="0" r="0" t="0"/>
          <a:stretch/>
        </p:blipFill>
        <p:spPr>
          <a:xfrm>
            <a:off x="365760" y="3831336"/>
            <a:ext cx="201168" cy="201168"/>
          </a:xfrm>
          <a:prstGeom prst="rect">
            <a:avLst/>
          </a:prstGeom>
          <a:noFill/>
          <a:ln>
            <a:noFill/>
          </a:ln>
        </p:spPr>
      </p:pic>
      <p:sp>
        <p:nvSpPr>
          <p:cNvPr id="93" name="Google Shape;93;p2"/>
          <p:cNvSpPr txBox="1"/>
          <p:nvPr/>
        </p:nvSpPr>
        <p:spPr>
          <a:xfrm>
            <a:off x="658368" y="379476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DEVICE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Mobile phone and computer</a:t>
            </a:r>
            <a:endParaRPr b="0" i="0" sz="750" u="none" cap="none" strike="noStrike">
              <a:solidFill>
                <a:schemeClr val="dk1"/>
              </a:solidFill>
              <a:latin typeface="Calibri"/>
              <a:ea typeface="Calibri"/>
              <a:cs typeface="Calibri"/>
              <a:sym typeface="Calibri"/>
            </a:endParaRPr>
          </a:p>
        </p:txBody>
      </p:sp>
      <p:pic>
        <p:nvPicPr>
          <p:cNvPr descr="preencoded.png" id="94" name="Google Shape;94;p2"/>
          <p:cNvPicPr preferRelativeResize="0"/>
          <p:nvPr/>
        </p:nvPicPr>
        <p:blipFill rotWithShape="1">
          <a:blip r:embed="rId7">
            <a:alphaModFix/>
          </a:blip>
          <a:srcRect b="0" l="0" r="0" t="0"/>
          <a:stretch/>
        </p:blipFill>
        <p:spPr>
          <a:xfrm>
            <a:off x="365760" y="4334256"/>
            <a:ext cx="201168" cy="201168"/>
          </a:xfrm>
          <a:prstGeom prst="rect">
            <a:avLst/>
          </a:prstGeom>
          <a:noFill/>
          <a:ln>
            <a:noFill/>
          </a:ln>
        </p:spPr>
      </p:pic>
      <p:sp>
        <p:nvSpPr>
          <p:cNvPr id="95" name="Google Shape;95;p2"/>
          <p:cNvSpPr txBox="1"/>
          <p:nvPr/>
        </p:nvSpPr>
        <p:spPr>
          <a:xfrm>
            <a:off x="658368" y="429768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DIGITAL LEVEL</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Intermediate</a:t>
            </a:r>
            <a:endParaRPr b="0" i="0" sz="750" u="none" cap="none" strike="noStrike">
              <a:solidFill>
                <a:schemeClr val="dk1"/>
              </a:solidFill>
              <a:latin typeface="Calibri"/>
              <a:ea typeface="Calibri"/>
              <a:cs typeface="Calibri"/>
              <a:sym typeface="Calibri"/>
            </a:endParaRPr>
          </a:p>
        </p:txBody>
      </p:sp>
      <p:sp>
        <p:nvSpPr>
          <p:cNvPr id="96" name="Google Shape;96;p2"/>
          <p:cNvSpPr/>
          <p:nvPr/>
        </p:nvSpPr>
        <p:spPr>
          <a:xfrm>
            <a:off x="1737360"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1892808"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2048256"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2203704"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2359152"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3474720" y="365760"/>
            <a:ext cx="5303520" cy="914400"/>
          </a:xfrm>
          <a:prstGeom prst="roundRect">
            <a:avLst>
              <a:gd fmla="val 12000" name="adj"/>
            </a:avLst>
          </a:prstGeom>
          <a:solidFill>
            <a:schemeClr val="accent2">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2" name="Google Shape;102;p2"/>
          <p:cNvPicPr preferRelativeResize="0"/>
          <p:nvPr/>
        </p:nvPicPr>
        <p:blipFill rotWithShape="1">
          <a:blip r:embed="rId8">
            <a:alphaModFix/>
          </a:blip>
          <a:srcRect b="0" l="0" r="0" t="0"/>
          <a:stretch/>
        </p:blipFill>
        <p:spPr>
          <a:xfrm>
            <a:off x="3657600" y="502920"/>
            <a:ext cx="292608" cy="292608"/>
          </a:xfrm>
          <a:prstGeom prst="rect">
            <a:avLst/>
          </a:prstGeom>
          <a:noFill/>
          <a:ln>
            <a:noFill/>
          </a:ln>
        </p:spPr>
      </p:pic>
      <p:sp>
        <p:nvSpPr>
          <p:cNvPr id="103" name="Google Shape;103;p2"/>
          <p:cNvSpPr txBox="1"/>
          <p:nvPr/>
        </p:nvSpPr>
        <p:spPr>
          <a:xfrm>
            <a:off x="4114800" y="411480"/>
            <a:ext cx="4526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Calibri"/>
              <a:buNone/>
            </a:pPr>
            <a:r>
              <a:rPr b="0" i="1" lang="en-US" sz="1150" u="none" cap="none" strike="noStrike">
                <a:solidFill>
                  <a:schemeClr val="dk1"/>
                </a:solidFill>
                <a:latin typeface="Calibri"/>
                <a:ea typeface="Calibri"/>
                <a:cs typeface="Calibri"/>
                <a:sym typeface="Calibri"/>
              </a:rPr>
              <a:t>I learned to use the government portal on my own. If you give me a simple app without so many hoops, I'm happy to go with the other club members to get their things done.</a:t>
            </a:r>
            <a:endParaRPr b="0" i="0" sz="1150" u="none" cap="none" strike="noStrike">
              <a:solidFill>
                <a:schemeClr val="dk1"/>
              </a:solidFill>
              <a:latin typeface="Calibri"/>
              <a:ea typeface="Calibri"/>
              <a:cs typeface="Calibri"/>
              <a:sym typeface="Calibri"/>
            </a:endParaRPr>
          </a:p>
        </p:txBody>
      </p:sp>
      <p:sp>
        <p:nvSpPr>
          <p:cNvPr id="104" name="Google Shape;104;p2"/>
          <p:cNvSpPr txBox="1"/>
          <p:nvPr/>
        </p:nvSpPr>
        <p:spPr>
          <a:xfrm>
            <a:off x="3474720" y="1389888"/>
            <a:ext cx="530352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050"/>
              <a:buFont typeface="Calibri"/>
              <a:buNone/>
            </a:pPr>
            <a:r>
              <a:rPr b="1" i="0" lang="en-US" sz="1050" u="none" cap="none" strike="noStrike">
                <a:solidFill>
                  <a:schemeClr val="accent2"/>
                </a:solidFill>
                <a:latin typeface="Calibri"/>
                <a:ea typeface="Calibri"/>
                <a:cs typeface="Calibri"/>
                <a:sym typeface="Calibri"/>
              </a:rPr>
              <a:t>About Roberto  </a:t>
            </a:r>
            <a:r>
              <a:rPr b="0" i="0" lang="en-US" sz="1050" u="none" cap="none" strike="noStrike">
                <a:solidFill>
                  <a:schemeClr val="dk1"/>
                </a:solidFill>
                <a:latin typeface="Calibri"/>
                <a:ea typeface="Calibri"/>
                <a:cs typeface="Calibri"/>
                <a:sym typeface="Calibri"/>
              </a:rPr>
              <a:t>Roberto is a 67-year-old retiree with an intermediate level of digital literacy: he is comfortable with government portals and basic online banking. He volunteers at his senior citizens' club, where he helps other members with their online errands.</a:t>
            </a:r>
            <a:endParaRPr b="0" i="0" sz="1050" u="none" cap="none" strike="noStrike">
              <a:solidFill>
                <a:schemeClr val="dk1"/>
              </a:solidFill>
              <a:latin typeface="Calibri"/>
              <a:ea typeface="Calibri"/>
              <a:cs typeface="Calibri"/>
              <a:sym typeface="Calibri"/>
            </a:endParaRPr>
          </a:p>
        </p:txBody>
      </p:sp>
      <p:sp>
        <p:nvSpPr>
          <p:cNvPr id="105" name="Google Shape;105;p2"/>
          <p:cNvSpPr/>
          <p:nvPr/>
        </p:nvSpPr>
        <p:spPr>
          <a:xfrm>
            <a:off x="347472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3657600" y="2221992"/>
            <a:ext cx="329184" cy="32918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2"/>
          <p:cNvPicPr preferRelativeResize="0"/>
          <p:nvPr/>
        </p:nvPicPr>
        <p:blipFill rotWithShape="1">
          <a:blip r:embed="rId9">
            <a:alphaModFix/>
          </a:blip>
          <a:srcRect b="0" l="0" r="0" t="0"/>
          <a:stretch/>
        </p:blipFill>
        <p:spPr>
          <a:xfrm>
            <a:off x="3730752" y="2295144"/>
            <a:ext cx="182880" cy="182880"/>
          </a:xfrm>
          <a:prstGeom prst="rect">
            <a:avLst/>
          </a:prstGeom>
          <a:noFill/>
          <a:ln>
            <a:noFill/>
          </a:ln>
        </p:spPr>
      </p:pic>
      <p:sp>
        <p:nvSpPr>
          <p:cNvPr id="108" name="Google Shape;108;p2"/>
          <p:cNvSpPr txBox="1"/>
          <p:nvPr/>
        </p:nvSpPr>
        <p:spPr>
          <a:xfrm>
            <a:off x="407822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Frustrations</a:t>
            </a:r>
            <a:endParaRPr b="0" i="0" sz="1300" u="none" cap="none" strike="noStrike">
              <a:solidFill>
                <a:schemeClr val="dk1"/>
              </a:solidFill>
              <a:latin typeface="Calibri"/>
              <a:ea typeface="Calibri"/>
              <a:cs typeface="Calibri"/>
              <a:sym typeface="Calibri"/>
            </a:endParaRPr>
          </a:p>
        </p:txBody>
      </p:sp>
      <p:sp>
        <p:nvSpPr>
          <p:cNvPr id="109" name="Google Shape;109;p2"/>
          <p:cNvSpPr txBox="1"/>
          <p:nvPr/>
        </p:nvSpPr>
        <p:spPr>
          <a:xfrm>
            <a:off x="363016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He is bothered by tools with overly technical processes.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He gets frustrated when he has to fill in long forms.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He is uncomfortable not having an organized way to know whom to help and when.</a:t>
            </a:r>
            <a:endParaRPr b="0" i="0" sz="1000" u="none" cap="none" strike="noStrike">
              <a:solidFill>
                <a:schemeClr val="dk1"/>
              </a:solidFill>
              <a:latin typeface="Calibri"/>
              <a:ea typeface="Calibri"/>
              <a:cs typeface="Calibri"/>
              <a:sym typeface="Calibri"/>
            </a:endParaRPr>
          </a:p>
        </p:txBody>
      </p:sp>
      <p:sp>
        <p:nvSpPr>
          <p:cNvPr id="110" name="Google Shape;110;p2"/>
          <p:cNvSpPr/>
          <p:nvPr/>
        </p:nvSpPr>
        <p:spPr>
          <a:xfrm>
            <a:off x="626364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6446520" y="2221992"/>
            <a:ext cx="329184" cy="32918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2" name="Google Shape;112;p2"/>
          <p:cNvPicPr preferRelativeResize="0"/>
          <p:nvPr/>
        </p:nvPicPr>
        <p:blipFill rotWithShape="1">
          <a:blip r:embed="rId10">
            <a:alphaModFix/>
          </a:blip>
          <a:srcRect b="0" l="0" r="0" t="0"/>
          <a:stretch/>
        </p:blipFill>
        <p:spPr>
          <a:xfrm>
            <a:off x="6519672" y="2295144"/>
            <a:ext cx="182880" cy="182880"/>
          </a:xfrm>
          <a:prstGeom prst="rect">
            <a:avLst/>
          </a:prstGeom>
          <a:noFill/>
          <a:ln>
            <a:noFill/>
          </a:ln>
        </p:spPr>
      </p:pic>
      <p:sp>
        <p:nvSpPr>
          <p:cNvPr id="113" name="Google Shape;113;p2"/>
          <p:cNvSpPr txBox="1"/>
          <p:nvPr/>
        </p:nvSpPr>
        <p:spPr>
          <a:xfrm>
            <a:off x="686714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Goals</a:t>
            </a:r>
            <a:endParaRPr b="0" i="0" sz="1300" u="none" cap="none" strike="noStrike">
              <a:solidFill>
                <a:schemeClr val="dk1"/>
              </a:solidFill>
              <a:latin typeface="Calibri"/>
              <a:ea typeface="Calibri"/>
              <a:cs typeface="Calibri"/>
              <a:sym typeface="Calibri"/>
            </a:endParaRPr>
          </a:p>
        </p:txBody>
      </p:sp>
      <p:sp>
        <p:nvSpPr>
          <p:cNvPr id="114" name="Google Shape;114;p2"/>
          <p:cNvSpPr txBox="1"/>
          <p:nvPr/>
        </p:nvSpPr>
        <p:spPr>
          <a:xfrm>
            <a:off x="641908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Feel useful in his community by helping his peers.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Learn to use the platform quickly, with little training.</a:t>
            </a:r>
            <a:endParaRPr b="0" i="0" sz="1000" u="none" cap="none" strike="noStrike">
              <a:solidFill>
                <a:schemeClr val="dk1"/>
              </a:solidFill>
              <a:latin typeface="Calibri"/>
              <a:ea typeface="Calibri"/>
              <a:cs typeface="Calibri"/>
              <a:sym typeface="Calibri"/>
            </a:endParaRPr>
          </a:p>
        </p:txBody>
      </p:sp>
      <p:pic>
        <p:nvPicPr>
          <p:cNvPr descr="preencoded.png" id="115" name="Google Shape;115;p2"/>
          <p:cNvPicPr preferRelativeResize="0"/>
          <p:nvPr/>
        </p:nvPicPr>
        <p:blipFill rotWithShape="1">
          <a:blip r:embed="rId11">
            <a:alphaModFix/>
          </a:blip>
          <a:srcRect b="0" l="0" r="0" t="0"/>
          <a:stretch/>
        </p:blipFill>
        <p:spPr>
          <a:xfrm>
            <a:off x="3474720" y="4261104"/>
            <a:ext cx="201168" cy="201168"/>
          </a:xfrm>
          <a:prstGeom prst="rect">
            <a:avLst/>
          </a:prstGeom>
          <a:noFill/>
          <a:ln>
            <a:noFill/>
          </a:ln>
        </p:spPr>
      </p:pic>
      <p:sp>
        <p:nvSpPr>
          <p:cNvPr id="116" name="Google Shape;116;p2"/>
          <p:cNvSpPr txBox="1"/>
          <p:nvPr/>
        </p:nvSpPr>
        <p:spPr>
          <a:xfrm>
            <a:off x="3730752" y="4224528"/>
            <a:ext cx="777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US" sz="1100" u="none" cap="none" strike="noStrike">
                <a:solidFill>
                  <a:schemeClr val="accent2"/>
                </a:solidFill>
                <a:latin typeface="Calibri"/>
                <a:ea typeface="Calibri"/>
                <a:cs typeface="Calibri"/>
                <a:sym typeface="Calibri"/>
              </a:rPr>
              <a:t>Interests</a:t>
            </a:r>
            <a:endParaRPr b="0" i="0" sz="1100" u="none" cap="none" strike="noStrike">
              <a:solidFill>
                <a:schemeClr val="dk1"/>
              </a:solidFill>
              <a:latin typeface="Calibri"/>
              <a:ea typeface="Calibri"/>
              <a:cs typeface="Calibri"/>
              <a:sym typeface="Calibri"/>
            </a:endParaRPr>
          </a:p>
        </p:txBody>
      </p:sp>
      <p:sp>
        <p:nvSpPr>
          <p:cNvPr id="117" name="Google Shape;117;p2"/>
          <p:cNvSpPr/>
          <p:nvPr/>
        </p:nvSpPr>
        <p:spPr>
          <a:xfrm>
            <a:off x="4526280" y="4224528"/>
            <a:ext cx="1629461" cy="274320"/>
          </a:xfrm>
          <a:prstGeom prst="roundRect">
            <a:avLst>
              <a:gd fmla="val 50000" name="adj"/>
            </a:avLst>
          </a:prstGeom>
          <a:solidFill>
            <a:schemeClr val="accent2">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txBox="1"/>
          <p:nvPr/>
        </p:nvSpPr>
        <p:spPr>
          <a:xfrm>
            <a:off x="4526280" y="4224528"/>
            <a:ext cx="1629461"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Calibri"/>
              <a:buNone/>
            </a:pPr>
            <a:r>
              <a:rPr b="1" i="0" lang="en-US" sz="950" u="none" cap="none" strike="noStrike">
                <a:solidFill>
                  <a:schemeClr val="accent2"/>
                </a:solidFill>
                <a:latin typeface="Calibri"/>
                <a:ea typeface="Calibri"/>
                <a:cs typeface="Calibri"/>
                <a:sym typeface="Calibri"/>
              </a:rPr>
              <a:t>Patiently teaching friends</a:t>
            </a:r>
            <a:endParaRPr b="0" i="0" sz="950" u="none" cap="none" strike="noStrike">
              <a:solidFill>
                <a:schemeClr val="dk1"/>
              </a:solidFill>
              <a:latin typeface="Calibri"/>
              <a:ea typeface="Calibri"/>
              <a:cs typeface="Calibri"/>
              <a:sym typeface="Calibri"/>
            </a:endParaRPr>
          </a:p>
        </p:txBody>
      </p:sp>
      <p:sp>
        <p:nvSpPr>
          <p:cNvPr id="119" name="Google Shape;119;p2"/>
          <p:cNvSpPr/>
          <p:nvPr/>
        </p:nvSpPr>
        <p:spPr>
          <a:xfrm>
            <a:off x="6265469" y="4224528"/>
            <a:ext cx="1577340" cy="274320"/>
          </a:xfrm>
          <a:prstGeom prst="roundRect">
            <a:avLst>
              <a:gd fmla="val 50000" name="adj"/>
            </a:avLst>
          </a:prstGeom>
          <a:solidFill>
            <a:schemeClr val="accent2">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txBox="1"/>
          <p:nvPr/>
        </p:nvSpPr>
        <p:spPr>
          <a:xfrm>
            <a:off x="6265469" y="4224528"/>
            <a:ext cx="15773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Calibri"/>
              <a:buNone/>
            </a:pPr>
            <a:r>
              <a:rPr b="1" i="0" lang="en-US" sz="950" u="none" cap="none" strike="noStrike">
                <a:solidFill>
                  <a:schemeClr val="accent2"/>
                </a:solidFill>
                <a:latin typeface="Calibri"/>
                <a:ea typeface="Calibri"/>
                <a:cs typeface="Calibri"/>
                <a:sym typeface="Calibri"/>
              </a:rPr>
              <a:t>Learning new phone tricks</a:t>
            </a:r>
            <a:endParaRPr b="0" i="0" sz="950" u="none" cap="none" strike="noStrike">
              <a:solidFill>
                <a:schemeClr val="dk1"/>
              </a:solidFill>
              <a:latin typeface="Calibri"/>
              <a:ea typeface="Calibri"/>
              <a:cs typeface="Calibri"/>
              <a:sym typeface="Calibri"/>
            </a:endParaRPr>
          </a:p>
        </p:txBody>
      </p:sp>
      <p:sp>
        <p:nvSpPr>
          <p:cNvPr id="121" name="Google Shape;121;p2"/>
          <p:cNvSpPr/>
          <p:nvPr/>
        </p:nvSpPr>
        <p:spPr>
          <a:xfrm>
            <a:off x="4526280" y="4572000"/>
            <a:ext cx="1108253" cy="274320"/>
          </a:xfrm>
          <a:prstGeom prst="roundRect">
            <a:avLst>
              <a:gd fmla="val 50000" name="adj"/>
            </a:avLst>
          </a:prstGeom>
          <a:solidFill>
            <a:schemeClr val="accent2">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txBox="1"/>
          <p:nvPr/>
        </p:nvSpPr>
        <p:spPr>
          <a:xfrm>
            <a:off x="4526280" y="4572000"/>
            <a:ext cx="1108253"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950"/>
              <a:buFont typeface="Calibri"/>
              <a:buNone/>
            </a:pPr>
            <a:r>
              <a:rPr b="1" i="0" lang="en-US" sz="950" u="none" cap="none" strike="noStrike">
                <a:solidFill>
                  <a:schemeClr val="accent2"/>
                </a:solidFill>
                <a:latin typeface="Calibri"/>
                <a:ea typeface="Calibri"/>
                <a:cs typeface="Calibri"/>
                <a:sym typeface="Calibri"/>
              </a:rPr>
              <a:t>Reading the news</a:t>
            </a:r>
            <a:endParaRPr b="0" i="0" sz="950" u="none" cap="none" strike="noStrike">
              <a:solidFill>
                <a:schemeClr val="dk1"/>
              </a:solidFill>
              <a:latin typeface="Calibri"/>
              <a:ea typeface="Calibri"/>
              <a:cs typeface="Calibri"/>
              <a:sym typeface="Calibri"/>
            </a:endParaRPr>
          </a:p>
        </p:txBody>
      </p:sp>
      <p:pic>
        <p:nvPicPr>
          <p:cNvPr id="123" name="Google Shape;123;p2" title="imagen 2 .png"/>
          <p:cNvPicPr preferRelativeResize="0"/>
          <p:nvPr/>
        </p:nvPicPr>
        <p:blipFill rotWithShape="1">
          <a:blip r:embed="rId12">
            <a:alphaModFix/>
          </a:blip>
          <a:srcRect b="17815" l="14393" r="22758" t="12813"/>
          <a:stretch/>
        </p:blipFill>
        <p:spPr>
          <a:xfrm>
            <a:off x="801025" y="400513"/>
            <a:ext cx="1342325" cy="13935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3"/>
          <p:cNvSpPr/>
          <p:nvPr/>
        </p:nvSpPr>
        <p:spPr>
          <a:xfrm>
            <a:off x="0" y="0"/>
            <a:ext cx="310896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914400" y="3749040"/>
            <a:ext cx="2377440" cy="2377440"/>
          </a:xfrm>
          <a:prstGeom prst="ellipse">
            <a:avLst/>
          </a:prstGeom>
          <a:solidFill>
            <a:schemeClr val="lt1">
              <a:alpha val="784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2286000" y="-548640"/>
            <a:ext cx="1463040" cy="1463040"/>
          </a:xfrm>
          <a:prstGeom prst="ellipse">
            <a:avLst/>
          </a:prstGeom>
          <a:solidFill>
            <a:schemeClr val="lt1">
              <a:alpha val="705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960120" y="502920"/>
            <a:ext cx="1188720" cy="1188720"/>
          </a:xfrm>
          <a:prstGeom prst="ellipse">
            <a:avLst/>
          </a:prstGeom>
          <a:solidFill>
            <a:schemeClr val="lt1">
              <a:alpha val="0"/>
            </a:schemeClr>
          </a:solidFill>
          <a:ln cap="flat" cmpd="sng" w="15875">
            <a:solidFill>
              <a:schemeClr val="lt1">
                <a:alpha val="6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051560" y="594360"/>
            <a:ext cx="1005840" cy="10058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txBox="1"/>
          <p:nvPr/>
        </p:nvSpPr>
        <p:spPr>
          <a:xfrm>
            <a:off x="1051560" y="5943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2800"/>
              <a:buFont typeface="Cambria"/>
              <a:buNone/>
            </a:pPr>
            <a:r>
              <a:rPr b="1" i="0" lang="en-US" sz="2800" u="none" cap="none" strike="noStrike">
                <a:solidFill>
                  <a:schemeClr val="accent3"/>
                </a:solidFill>
                <a:latin typeface="Cambria"/>
                <a:ea typeface="Cambria"/>
                <a:cs typeface="Cambria"/>
                <a:sym typeface="Cambria"/>
              </a:rPr>
              <a:t>AR</a:t>
            </a:r>
            <a:endParaRPr b="0" i="0" sz="2800" u="none" cap="none" strike="noStrike">
              <a:solidFill>
                <a:schemeClr val="dk1"/>
              </a:solidFill>
              <a:latin typeface="Calibri"/>
              <a:ea typeface="Calibri"/>
              <a:cs typeface="Calibri"/>
              <a:sym typeface="Calibri"/>
            </a:endParaRPr>
          </a:p>
        </p:txBody>
      </p:sp>
      <p:sp>
        <p:nvSpPr>
          <p:cNvPr id="135" name="Google Shape;135;p3"/>
          <p:cNvSpPr txBox="1"/>
          <p:nvPr>
            <p:ph type="title"/>
          </p:nvPr>
        </p:nvSpPr>
        <p:spPr>
          <a:xfrm>
            <a:off x="274320" y="1810512"/>
            <a:ext cx="2560320" cy="4114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2200"/>
              <a:buFont typeface="Cambria"/>
              <a:buNone/>
            </a:pPr>
            <a:r>
              <a:rPr b="1" lang="en-US" sz="2200">
                <a:solidFill>
                  <a:schemeClr val="lt1"/>
                </a:solidFill>
                <a:latin typeface="Cambria"/>
                <a:ea typeface="Cambria"/>
                <a:cs typeface="Cambria"/>
                <a:sym typeface="Cambria"/>
              </a:rPr>
              <a:t>Andrés Rivera</a:t>
            </a:r>
            <a:endParaRPr sz="2200"/>
          </a:p>
        </p:txBody>
      </p:sp>
      <p:sp>
        <p:nvSpPr>
          <p:cNvPr id="136" name="Google Shape;136;p3"/>
          <p:cNvSpPr/>
          <p:nvPr/>
        </p:nvSpPr>
        <p:spPr>
          <a:xfrm>
            <a:off x="695858" y="2286000"/>
            <a:ext cx="1717243" cy="274320"/>
          </a:xfrm>
          <a:prstGeom prst="roundRect">
            <a:avLst>
              <a:gd fmla="val 50000" name="adj"/>
            </a:avLst>
          </a:pr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txBox="1"/>
          <p:nvPr/>
        </p:nvSpPr>
        <p:spPr>
          <a:xfrm>
            <a:off x="695858" y="2286000"/>
            <a:ext cx="1717243"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50"/>
              <a:buFont typeface="Calibri"/>
              <a:buNone/>
            </a:pPr>
            <a:r>
              <a:rPr b="1" i="0" lang="en-US" sz="950" u="none" cap="none" strike="noStrike">
                <a:solidFill>
                  <a:schemeClr val="lt1"/>
                </a:solidFill>
                <a:latin typeface="Calibri"/>
                <a:ea typeface="Calibri"/>
                <a:cs typeface="Calibri"/>
                <a:sym typeface="Calibri"/>
              </a:rPr>
              <a:t>Municipal coordinator</a:t>
            </a:r>
            <a:endParaRPr b="0" i="0" sz="950" u="none" cap="none" strike="noStrike">
              <a:solidFill>
                <a:schemeClr val="dk1"/>
              </a:solidFill>
              <a:latin typeface="Calibri"/>
              <a:ea typeface="Calibri"/>
              <a:cs typeface="Calibri"/>
              <a:sym typeface="Calibri"/>
            </a:endParaRPr>
          </a:p>
        </p:txBody>
      </p:sp>
      <p:pic>
        <p:nvPicPr>
          <p:cNvPr descr="preencoded.png" id="138" name="Google Shape;138;p3"/>
          <p:cNvPicPr preferRelativeResize="0"/>
          <p:nvPr/>
        </p:nvPicPr>
        <p:blipFill rotWithShape="1">
          <a:blip r:embed="rId3">
            <a:alphaModFix/>
          </a:blip>
          <a:srcRect b="0" l="0" r="0" t="0"/>
          <a:stretch/>
        </p:blipFill>
        <p:spPr>
          <a:xfrm>
            <a:off x="365760" y="2825496"/>
            <a:ext cx="201168" cy="201168"/>
          </a:xfrm>
          <a:prstGeom prst="rect">
            <a:avLst/>
          </a:prstGeom>
          <a:noFill/>
          <a:ln>
            <a:noFill/>
          </a:ln>
        </p:spPr>
      </p:pic>
      <p:sp>
        <p:nvSpPr>
          <p:cNvPr id="139" name="Google Shape;139;p3"/>
          <p:cNvSpPr txBox="1"/>
          <p:nvPr/>
        </p:nvSpPr>
        <p:spPr>
          <a:xfrm>
            <a:off x="658368" y="2788920"/>
            <a:ext cx="64008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AGE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40</a:t>
            </a:r>
            <a:endParaRPr b="0" i="0" sz="750" u="none" cap="none" strike="noStrike">
              <a:solidFill>
                <a:schemeClr val="dk1"/>
              </a:solidFill>
              <a:latin typeface="Calibri"/>
              <a:ea typeface="Calibri"/>
              <a:cs typeface="Calibri"/>
              <a:sym typeface="Calibri"/>
            </a:endParaRPr>
          </a:p>
        </p:txBody>
      </p:sp>
      <p:pic>
        <p:nvPicPr>
          <p:cNvPr descr="preencoded.png" id="140" name="Google Shape;140;p3"/>
          <p:cNvPicPr preferRelativeResize="0"/>
          <p:nvPr/>
        </p:nvPicPr>
        <p:blipFill rotWithShape="1">
          <a:blip r:embed="rId4">
            <a:alphaModFix/>
          </a:blip>
          <a:srcRect b="0" l="0" r="0" t="0"/>
          <a:stretch/>
        </p:blipFill>
        <p:spPr>
          <a:xfrm>
            <a:off x="1371600" y="2825496"/>
            <a:ext cx="201168" cy="201168"/>
          </a:xfrm>
          <a:prstGeom prst="rect">
            <a:avLst/>
          </a:prstGeom>
          <a:noFill/>
          <a:ln>
            <a:noFill/>
          </a:ln>
        </p:spPr>
      </p:pic>
      <p:sp>
        <p:nvSpPr>
          <p:cNvPr id="141" name="Google Shape;141;p3"/>
          <p:cNvSpPr txBox="1"/>
          <p:nvPr/>
        </p:nvSpPr>
        <p:spPr>
          <a:xfrm>
            <a:off x="1664208" y="2788920"/>
            <a:ext cx="141732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LOCATION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Temuco, Chile</a:t>
            </a:r>
            <a:endParaRPr b="0" i="0" sz="750" u="none" cap="none" strike="noStrike">
              <a:solidFill>
                <a:schemeClr val="dk1"/>
              </a:solidFill>
              <a:latin typeface="Calibri"/>
              <a:ea typeface="Calibri"/>
              <a:cs typeface="Calibri"/>
              <a:sym typeface="Calibri"/>
            </a:endParaRPr>
          </a:p>
        </p:txBody>
      </p:sp>
      <p:pic>
        <p:nvPicPr>
          <p:cNvPr descr="preencoded.png" id="142" name="Google Shape;142;p3"/>
          <p:cNvPicPr preferRelativeResize="0"/>
          <p:nvPr/>
        </p:nvPicPr>
        <p:blipFill rotWithShape="1">
          <a:blip r:embed="rId5">
            <a:alphaModFix/>
          </a:blip>
          <a:srcRect b="0" l="0" r="0" t="0"/>
          <a:stretch/>
        </p:blipFill>
        <p:spPr>
          <a:xfrm>
            <a:off x="365760" y="3328416"/>
            <a:ext cx="201168" cy="201168"/>
          </a:xfrm>
          <a:prstGeom prst="rect">
            <a:avLst/>
          </a:prstGeom>
          <a:noFill/>
          <a:ln>
            <a:noFill/>
          </a:ln>
        </p:spPr>
      </p:pic>
      <p:sp>
        <p:nvSpPr>
          <p:cNvPr id="143" name="Google Shape;143;p3"/>
          <p:cNvSpPr txBox="1"/>
          <p:nvPr/>
        </p:nvSpPr>
        <p:spPr>
          <a:xfrm>
            <a:off x="658368" y="329184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OCCUPATION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Social programs coordinator</a:t>
            </a:r>
            <a:endParaRPr b="0" i="0" sz="750" u="none" cap="none" strike="noStrike">
              <a:solidFill>
                <a:schemeClr val="dk1"/>
              </a:solidFill>
              <a:latin typeface="Calibri"/>
              <a:ea typeface="Calibri"/>
              <a:cs typeface="Calibri"/>
              <a:sym typeface="Calibri"/>
            </a:endParaRPr>
          </a:p>
        </p:txBody>
      </p:sp>
      <p:pic>
        <p:nvPicPr>
          <p:cNvPr descr="preencoded.png" id="144" name="Google Shape;144;p3"/>
          <p:cNvPicPr preferRelativeResize="0"/>
          <p:nvPr/>
        </p:nvPicPr>
        <p:blipFill rotWithShape="1">
          <a:blip r:embed="rId6">
            <a:alphaModFix/>
          </a:blip>
          <a:srcRect b="0" l="0" r="0" t="0"/>
          <a:stretch/>
        </p:blipFill>
        <p:spPr>
          <a:xfrm>
            <a:off x="365760" y="3831336"/>
            <a:ext cx="201168" cy="201168"/>
          </a:xfrm>
          <a:prstGeom prst="rect">
            <a:avLst/>
          </a:prstGeom>
          <a:noFill/>
          <a:ln>
            <a:noFill/>
          </a:ln>
        </p:spPr>
      </p:pic>
      <p:sp>
        <p:nvSpPr>
          <p:cNvPr id="145" name="Google Shape;145;p3"/>
          <p:cNvSpPr txBox="1"/>
          <p:nvPr/>
        </p:nvSpPr>
        <p:spPr>
          <a:xfrm>
            <a:off x="658368" y="379476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DEVICE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Office computer</a:t>
            </a:r>
            <a:endParaRPr b="0" i="0" sz="750" u="none" cap="none" strike="noStrike">
              <a:solidFill>
                <a:schemeClr val="dk1"/>
              </a:solidFill>
              <a:latin typeface="Calibri"/>
              <a:ea typeface="Calibri"/>
              <a:cs typeface="Calibri"/>
              <a:sym typeface="Calibri"/>
            </a:endParaRPr>
          </a:p>
        </p:txBody>
      </p:sp>
      <p:pic>
        <p:nvPicPr>
          <p:cNvPr descr="preencoded.png" id="146" name="Google Shape;146;p3"/>
          <p:cNvPicPr preferRelativeResize="0"/>
          <p:nvPr/>
        </p:nvPicPr>
        <p:blipFill rotWithShape="1">
          <a:blip r:embed="rId7">
            <a:alphaModFix/>
          </a:blip>
          <a:srcRect b="0" l="0" r="0" t="0"/>
          <a:stretch/>
        </p:blipFill>
        <p:spPr>
          <a:xfrm>
            <a:off x="365760" y="4334256"/>
            <a:ext cx="201168" cy="201168"/>
          </a:xfrm>
          <a:prstGeom prst="rect">
            <a:avLst/>
          </a:prstGeom>
          <a:noFill/>
          <a:ln>
            <a:noFill/>
          </a:ln>
        </p:spPr>
      </p:pic>
      <p:sp>
        <p:nvSpPr>
          <p:cNvPr id="147" name="Google Shape;147;p3"/>
          <p:cNvSpPr txBox="1"/>
          <p:nvPr/>
        </p:nvSpPr>
        <p:spPr>
          <a:xfrm>
            <a:off x="658368" y="429768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DIGITAL LEVEL</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Medium-high</a:t>
            </a:r>
            <a:endParaRPr b="0" i="0" sz="750" u="none" cap="none" strike="noStrike">
              <a:solidFill>
                <a:schemeClr val="dk1"/>
              </a:solidFill>
              <a:latin typeface="Calibri"/>
              <a:ea typeface="Calibri"/>
              <a:cs typeface="Calibri"/>
              <a:sym typeface="Calibri"/>
            </a:endParaRPr>
          </a:p>
        </p:txBody>
      </p:sp>
      <p:sp>
        <p:nvSpPr>
          <p:cNvPr id="148" name="Google Shape;148;p3"/>
          <p:cNvSpPr/>
          <p:nvPr/>
        </p:nvSpPr>
        <p:spPr>
          <a:xfrm>
            <a:off x="1737360"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1892808"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2048256"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2203704"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2359152" y="4311396"/>
            <a:ext cx="91440" cy="91440"/>
          </a:xfrm>
          <a:prstGeom prst="ellipse">
            <a:avLst/>
          </a:prstGeom>
          <a:solidFill>
            <a:schemeClr val="lt1">
              <a:alpha val="3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3474720" y="365760"/>
            <a:ext cx="5303520" cy="914400"/>
          </a:xfrm>
          <a:prstGeom prst="roundRect">
            <a:avLst>
              <a:gd fmla="val 12000" name="adj"/>
            </a:avLst>
          </a:prstGeom>
          <a:solidFill>
            <a:schemeClr val="accent3">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p3"/>
          <p:cNvPicPr preferRelativeResize="0"/>
          <p:nvPr/>
        </p:nvPicPr>
        <p:blipFill rotWithShape="1">
          <a:blip r:embed="rId8">
            <a:alphaModFix/>
          </a:blip>
          <a:srcRect b="0" l="0" r="0" t="0"/>
          <a:stretch/>
        </p:blipFill>
        <p:spPr>
          <a:xfrm>
            <a:off x="3657600" y="502920"/>
            <a:ext cx="292608" cy="292608"/>
          </a:xfrm>
          <a:prstGeom prst="rect">
            <a:avLst/>
          </a:prstGeom>
          <a:noFill/>
          <a:ln>
            <a:noFill/>
          </a:ln>
        </p:spPr>
      </p:pic>
      <p:sp>
        <p:nvSpPr>
          <p:cNvPr id="155" name="Google Shape;155;p3"/>
          <p:cNvSpPr txBox="1"/>
          <p:nvPr/>
        </p:nvSpPr>
        <p:spPr>
          <a:xfrm>
            <a:off x="4114800" y="411480"/>
            <a:ext cx="4526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Calibri"/>
              <a:buNone/>
            </a:pPr>
            <a:r>
              <a:rPr b="0" i="1" lang="en-US" sz="1150" u="none" cap="none" strike="noStrike">
                <a:solidFill>
                  <a:schemeClr val="dk1"/>
                </a:solidFill>
                <a:latin typeface="Calibri"/>
                <a:ea typeface="Calibri"/>
                <a:cs typeface="Calibri"/>
                <a:sym typeface="Calibri"/>
              </a:rPr>
              <a:t>I can't rely on volunteers' good memory. I need to see on a screen how many seniors are waiting for help today and who is taking care of them.</a:t>
            </a:r>
            <a:endParaRPr b="0" i="0" sz="1150" u="none" cap="none" strike="noStrike">
              <a:solidFill>
                <a:schemeClr val="dk1"/>
              </a:solidFill>
              <a:latin typeface="Calibri"/>
              <a:ea typeface="Calibri"/>
              <a:cs typeface="Calibri"/>
              <a:sym typeface="Calibri"/>
            </a:endParaRPr>
          </a:p>
        </p:txBody>
      </p:sp>
      <p:sp>
        <p:nvSpPr>
          <p:cNvPr id="156" name="Google Shape;156;p3"/>
          <p:cNvSpPr txBox="1"/>
          <p:nvPr/>
        </p:nvSpPr>
        <p:spPr>
          <a:xfrm>
            <a:off x="3474720" y="1389888"/>
            <a:ext cx="530352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050"/>
              <a:buFont typeface="Calibri"/>
              <a:buNone/>
            </a:pPr>
            <a:r>
              <a:rPr b="1" i="0" lang="en-US" sz="1050" u="none" cap="none" strike="noStrike">
                <a:solidFill>
                  <a:schemeClr val="accent3"/>
                </a:solidFill>
                <a:latin typeface="Calibri"/>
                <a:ea typeface="Calibri"/>
                <a:cs typeface="Calibri"/>
                <a:sym typeface="Calibri"/>
              </a:rPr>
              <a:t>About Andrés  </a:t>
            </a:r>
            <a:r>
              <a:rPr b="0" i="0" lang="en-US" sz="1050" u="none" cap="none" strike="noStrike">
                <a:solidFill>
                  <a:schemeClr val="dk1"/>
                </a:solidFill>
                <a:latin typeface="Calibri"/>
                <a:ea typeface="Calibri"/>
                <a:cs typeface="Calibri"/>
                <a:sym typeface="Calibri"/>
              </a:rPr>
              <a:t>Andrés is a social programs coordinator at the municipality. He manages limited resources and must show that initiatives for older adults are working properly.</a:t>
            </a:r>
            <a:endParaRPr b="0" i="0" sz="1050" u="none" cap="none" strike="noStrike">
              <a:solidFill>
                <a:schemeClr val="dk1"/>
              </a:solidFill>
              <a:latin typeface="Calibri"/>
              <a:ea typeface="Calibri"/>
              <a:cs typeface="Calibri"/>
              <a:sym typeface="Calibri"/>
            </a:endParaRPr>
          </a:p>
        </p:txBody>
      </p:sp>
      <p:sp>
        <p:nvSpPr>
          <p:cNvPr id="157" name="Google Shape;157;p3"/>
          <p:cNvSpPr/>
          <p:nvPr/>
        </p:nvSpPr>
        <p:spPr>
          <a:xfrm>
            <a:off x="347472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3657600" y="2221992"/>
            <a:ext cx="329184" cy="3291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3"/>
          <p:cNvPicPr preferRelativeResize="0"/>
          <p:nvPr/>
        </p:nvPicPr>
        <p:blipFill rotWithShape="1">
          <a:blip r:embed="rId9">
            <a:alphaModFix/>
          </a:blip>
          <a:srcRect b="0" l="0" r="0" t="0"/>
          <a:stretch/>
        </p:blipFill>
        <p:spPr>
          <a:xfrm>
            <a:off x="3730752" y="2295144"/>
            <a:ext cx="182880" cy="182880"/>
          </a:xfrm>
          <a:prstGeom prst="rect">
            <a:avLst/>
          </a:prstGeom>
          <a:noFill/>
          <a:ln>
            <a:noFill/>
          </a:ln>
        </p:spPr>
      </p:pic>
      <p:sp>
        <p:nvSpPr>
          <p:cNvPr id="160" name="Google Shape;160;p3"/>
          <p:cNvSpPr txBox="1"/>
          <p:nvPr/>
        </p:nvSpPr>
        <p:spPr>
          <a:xfrm>
            <a:off x="407822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Frustrations</a:t>
            </a:r>
            <a:endParaRPr b="0" i="0" sz="1300" u="none" cap="none" strike="noStrike">
              <a:solidFill>
                <a:schemeClr val="dk1"/>
              </a:solidFill>
              <a:latin typeface="Calibri"/>
              <a:ea typeface="Calibri"/>
              <a:cs typeface="Calibri"/>
              <a:sym typeface="Calibri"/>
            </a:endParaRPr>
          </a:p>
        </p:txBody>
      </p:sp>
      <p:sp>
        <p:nvSpPr>
          <p:cNvPr id="161" name="Google Shape;161;p3"/>
          <p:cNvSpPr txBox="1"/>
          <p:nvPr/>
        </p:nvSpPr>
        <p:spPr>
          <a:xfrm>
            <a:off x="363016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Lack of concrete data to demonstrate results.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He gets stressed when he learns that informal coordination with older adults has failed.</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He cannot reliably verify who each volunteer is.</a:t>
            </a:r>
            <a:endParaRPr b="0" i="0" sz="1000" u="none" cap="none" strike="noStrike">
              <a:solidFill>
                <a:schemeClr val="dk1"/>
              </a:solidFill>
              <a:latin typeface="Calibri"/>
              <a:ea typeface="Calibri"/>
              <a:cs typeface="Calibri"/>
              <a:sym typeface="Calibri"/>
            </a:endParaRPr>
          </a:p>
        </p:txBody>
      </p:sp>
      <p:sp>
        <p:nvSpPr>
          <p:cNvPr id="162" name="Google Shape;162;p3"/>
          <p:cNvSpPr/>
          <p:nvPr/>
        </p:nvSpPr>
        <p:spPr>
          <a:xfrm>
            <a:off x="626364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6446520" y="2221992"/>
            <a:ext cx="329184" cy="32918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4" name="Google Shape;164;p3"/>
          <p:cNvPicPr preferRelativeResize="0"/>
          <p:nvPr/>
        </p:nvPicPr>
        <p:blipFill rotWithShape="1">
          <a:blip r:embed="rId10">
            <a:alphaModFix/>
          </a:blip>
          <a:srcRect b="0" l="0" r="0" t="0"/>
          <a:stretch/>
        </p:blipFill>
        <p:spPr>
          <a:xfrm>
            <a:off x="6519672" y="2295144"/>
            <a:ext cx="182880" cy="182880"/>
          </a:xfrm>
          <a:prstGeom prst="rect">
            <a:avLst/>
          </a:prstGeom>
          <a:noFill/>
          <a:ln>
            <a:noFill/>
          </a:ln>
        </p:spPr>
      </p:pic>
      <p:sp>
        <p:nvSpPr>
          <p:cNvPr id="165" name="Google Shape;165;p3"/>
          <p:cNvSpPr txBox="1"/>
          <p:nvPr/>
        </p:nvSpPr>
        <p:spPr>
          <a:xfrm>
            <a:off x="686714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Goals</a:t>
            </a:r>
            <a:endParaRPr b="0" i="0" sz="1300" u="none" cap="none" strike="noStrike">
              <a:solidFill>
                <a:schemeClr val="dk1"/>
              </a:solidFill>
              <a:latin typeface="Calibri"/>
              <a:ea typeface="Calibri"/>
              <a:cs typeface="Calibri"/>
              <a:sym typeface="Calibri"/>
            </a:endParaRPr>
          </a:p>
        </p:txBody>
      </p:sp>
      <p:sp>
        <p:nvSpPr>
          <p:cNvPr id="166" name="Google Shape;166;p3"/>
          <p:cNvSpPr txBox="1"/>
          <p:nvPr/>
        </p:nvSpPr>
        <p:spPr>
          <a:xfrm>
            <a:off x="641908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Oversee the older adults' support network from a single place.</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Verify the identity of volunteers.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Obtain statistics on the help provided.</a:t>
            </a:r>
            <a:endParaRPr b="0" i="0" sz="1000" u="none" cap="none" strike="noStrike">
              <a:solidFill>
                <a:schemeClr val="dk1"/>
              </a:solidFill>
              <a:latin typeface="Calibri"/>
              <a:ea typeface="Calibri"/>
              <a:cs typeface="Calibri"/>
              <a:sym typeface="Calibri"/>
            </a:endParaRPr>
          </a:p>
        </p:txBody>
      </p:sp>
      <p:pic>
        <p:nvPicPr>
          <p:cNvPr descr="preencoded.png" id="167" name="Google Shape;167;p3"/>
          <p:cNvPicPr preferRelativeResize="0"/>
          <p:nvPr/>
        </p:nvPicPr>
        <p:blipFill rotWithShape="1">
          <a:blip r:embed="rId11">
            <a:alphaModFix/>
          </a:blip>
          <a:srcRect b="0" l="0" r="0" t="0"/>
          <a:stretch/>
        </p:blipFill>
        <p:spPr>
          <a:xfrm>
            <a:off x="3474720" y="4261104"/>
            <a:ext cx="201168" cy="201168"/>
          </a:xfrm>
          <a:prstGeom prst="rect">
            <a:avLst/>
          </a:prstGeom>
          <a:noFill/>
          <a:ln>
            <a:noFill/>
          </a:ln>
        </p:spPr>
      </p:pic>
      <p:sp>
        <p:nvSpPr>
          <p:cNvPr id="168" name="Google Shape;168;p3"/>
          <p:cNvSpPr txBox="1"/>
          <p:nvPr/>
        </p:nvSpPr>
        <p:spPr>
          <a:xfrm>
            <a:off x="3730752" y="4224528"/>
            <a:ext cx="777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3"/>
              </a:buClr>
              <a:buSzPts val="1100"/>
              <a:buFont typeface="Calibri"/>
              <a:buNone/>
            </a:pPr>
            <a:r>
              <a:rPr b="1" i="0" lang="en-US" sz="1100" u="none" cap="none" strike="noStrike">
                <a:solidFill>
                  <a:schemeClr val="accent3"/>
                </a:solidFill>
                <a:latin typeface="Calibri"/>
                <a:ea typeface="Calibri"/>
                <a:cs typeface="Calibri"/>
                <a:sym typeface="Calibri"/>
              </a:rPr>
              <a:t>Interests</a:t>
            </a:r>
            <a:endParaRPr b="0" i="0" sz="1100" u="none" cap="none" strike="noStrike">
              <a:solidFill>
                <a:schemeClr val="dk1"/>
              </a:solidFill>
              <a:latin typeface="Calibri"/>
              <a:ea typeface="Calibri"/>
              <a:cs typeface="Calibri"/>
              <a:sym typeface="Calibri"/>
            </a:endParaRPr>
          </a:p>
        </p:txBody>
      </p:sp>
      <p:sp>
        <p:nvSpPr>
          <p:cNvPr id="169" name="Google Shape;169;p3"/>
          <p:cNvSpPr/>
          <p:nvPr/>
        </p:nvSpPr>
        <p:spPr>
          <a:xfrm>
            <a:off x="4526280" y="4224528"/>
            <a:ext cx="951890" cy="274320"/>
          </a:xfrm>
          <a:prstGeom prst="roundRect">
            <a:avLst>
              <a:gd fmla="val 50000" name="adj"/>
            </a:avLst>
          </a:prstGeom>
          <a:solidFill>
            <a:schemeClr val="accent3">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txBox="1"/>
          <p:nvPr/>
        </p:nvSpPr>
        <p:spPr>
          <a:xfrm>
            <a:off x="4526280" y="4224528"/>
            <a:ext cx="95189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950"/>
              <a:buFont typeface="Calibri"/>
              <a:buNone/>
            </a:pPr>
            <a:r>
              <a:rPr b="1" i="0" lang="en-US" sz="950" u="none" cap="none" strike="noStrike">
                <a:solidFill>
                  <a:schemeClr val="accent3"/>
                </a:solidFill>
                <a:latin typeface="Calibri"/>
                <a:ea typeface="Calibri"/>
                <a:cs typeface="Calibri"/>
                <a:sym typeface="Calibri"/>
              </a:rPr>
              <a:t>Social events</a:t>
            </a:r>
            <a:endParaRPr b="0" i="0" sz="950" u="none" cap="none" strike="noStrike">
              <a:solidFill>
                <a:schemeClr val="dk1"/>
              </a:solidFill>
              <a:latin typeface="Calibri"/>
              <a:ea typeface="Calibri"/>
              <a:cs typeface="Calibri"/>
              <a:sym typeface="Calibri"/>
            </a:endParaRPr>
          </a:p>
        </p:txBody>
      </p:sp>
      <p:sp>
        <p:nvSpPr>
          <p:cNvPr id="171" name="Google Shape;171;p3"/>
          <p:cNvSpPr/>
          <p:nvPr/>
        </p:nvSpPr>
        <p:spPr>
          <a:xfrm>
            <a:off x="5587898" y="4224528"/>
            <a:ext cx="1264615" cy="274320"/>
          </a:xfrm>
          <a:prstGeom prst="roundRect">
            <a:avLst>
              <a:gd fmla="val 50000" name="adj"/>
            </a:avLst>
          </a:prstGeom>
          <a:solidFill>
            <a:schemeClr val="accent3">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txBox="1"/>
          <p:nvPr/>
        </p:nvSpPr>
        <p:spPr>
          <a:xfrm>
            <a:off x="5587898" y="4224528"/>
            <a:ext cx="126461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950"/>
              <a:buFont typeface="Calibri"/>
              <a:buNone/>
            </a:pPr>
            <a:r>
              <a:rPr b="1" i="0" lang="en-US" sz="950" u="none" cap="none" strike="noStrike">
                <a:solidFill>
                  <a:schemeClr val="accent3"/>
                </a:solidFill>
                <a:latin typeface="Calibri"/>
                <a:ea typeface="Calibri"/>
                <a:cs typeface="Calibri"/>
                <a:sym typeface="Calibri"/>
              </a:rPr>
              <a:t>Local public policy</a:t>
            </a:r>
            <a:endParaRPr b="0" i="0" sz="950" u="none" cap="none" strike="noStrike">
              <a:solidFill>
                <a:schemeClr val="dk1"/>
              </a:solidFill>
              <a:latin typeface="Calibri"/>
              <a:ea typeface="Calibri"/>
              <a:cs typeface="Calibri"/>
              <a:sym typeface="Calibri"/>
            </a:endParaRPr>
          </a:p>
        </p:txBody>
      </p:sp>
      <p:sp>
        <p:nvSpPr>
          <p:cNvPr id="173" name="Google Shape;173;p3"/>
          <p:cNvSpPr/>
          <p:nvPr/>
        </p:nvSpPr>
        <p:spPr>
          <a:xfrm>
            <a:off x="4526280" y="4572000"/>
            <a:ext cx="1994306" cy="274320"/>
          </a:xfrm>
          <a:prstGeom prst="roundRect">
            <a:avLst>
              <a:gd fmla="val 50000" name="adj"/>
            </a:avLst>
          </a:prstGeom>
          <a:solidFill>
            <a:schemeClr val="accent3">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txBox="1"/>
          <p:nvPr/>
        </p:nvSpPr>
        <p:spPr>
          <a:xfrm>
            <a:off x="4526280" y="4572000"/>
            <a:ext cx="199430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3"/>
              </a:buClr>
              <a:buSzPts val="950"/>
              <a:buFont typeface="Calibri"/>
              <a:buNone/>
            </a:pPr>
            <a:r>
              <a:rPr b="1" i="0" lang="en-US" sz="950" u="none" cap="none" strike="noStrike">
                <a:solidFill>
                  <a:schemeClr val="accent3"/>
                </a:solidFill>
                <a:latin typeface="Calibri"/>
                <a:ea typeface="Calibri"/>
                <a:cs typeface="Calibri"/>
                <a:sym typeface="Calibri"/>
              </a:rPr>
              <a:t>Management reports and indicators</a:t>
            </a:r>
            <a:endParaRPr b="0" i="0" sz="950" u="none" cap="none" strike="noStrike">
              <a:solidFill>
                <a:schemeClr val="dk1"/>
              </a:solidFill>
              <a:latin typeface="Calibri"/>
              <a:ea typeface="Calibri"/>
              <a:cs typeface="Calibri"/>
              <a:sym typeface="Calibri"/>
            </a:endParaRPr>
          </a:p>
        </p:txBody>
      </p:sp>
      <p:pic>
        <p:nvPicPr>
          <p:cNvPr id="175" name="Google Shape;175;p3" title="imagen - 3.jpg"/>
          <p:cNvPicPr preferRelativeResize="0"/>
          <p:nvPr/>
        </p:nvPicPr>
        <p:blipFill rotWithShape="1">
          <a:blip r:embed="rId12">
            <a:alphaModFix/>
          </a:blip>
          <a:srcRect b="16171" l="17186" r="34742" t="5557"/>
          <a:stretch/>
        </p:blipFill>
        <p:spPr>
          <a:xfrm>
            <a:off x="928038" y="365750"/>
            <a:ext cx="1252876" cy="13533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
          <p:cNvSpPr/>
          <p:nvPr/>
        </p:nvSpPr>
        <p:spPr>
          <a:xfrm>
            <a:off x="0" y="0"/>
            <a:ext cx="31089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
          <p:cNvSpPr/>
          <p:nvPr/>
        </p:nvSpPr>
        <p:spPr>
          <a:xfrm>
            <a:off x="-914400" y="3749040"/>
            <a:ext cx="2377440" cy="2377440"/>
          </a:xfrm>
          <a:prstGeom prst="ellipse">
            <a:avLst/>
          </a:prstGeom>
          <a:solidFill>
            <a:schemeClr val="lt1">
              <a:alpha val="784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4"/>
          <p:cNvSpPr/>
          <p:nvPr/>
        </p:nvSpPr>
        <p:spPr>
          <a:xfrm>
            <a:off x="2286000" y="-548640"/>
            <a:ext cx="1463040" cy="1463040"/>
          </a:xfrm>
          <a:prstGeom prst="ellipse">
            <a:avLst/>
          </a:prstGeom>
          <a:solidFill>
            <a:schemeClr val="lt1">
              <a:alpha val="705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a:off x="960120" y="502920"/>
            <a:ext cx="1188720" cy="1188720"/>
          </a:xfrm>
          <a:prstGeom prst="ellipse">
            <a:avLst/>
          </a:prstGeom>
          <a:solidFill>
            <a:schemeClr val="lt1">
              <a:alpha val="0"/>
            </a:schemeClr>
          </a:solidFill>
          <a:ln cap="flat" cmpd="sng" w="15875">
            <a:solidFill>
              <a:schemeClr val="lt1">
                <a:alpha val="6000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1051560" y="594360"/>
            <a:ext cx="1005900" cy="1005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txBox="1"/>
          <p:nvPr/>
        </p:nvSpPr>
        <p:spPr>
          <a:xfrm>
            <a:off x="1051560" y="594360"/>
            <a:ext cx="1005900" cy="100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2800"/>
              <a:buFont typeface="Cambria"/>
              <a:buNone/>
            </a:pPr>
            <a:r>
              <a:rPr b="1" i="0" lang="en-US" sz="2800" u="none" cap="none" strike="noStrike">
                <a:solidFill>
                  <a:schemeClr val="accent4"/>
                </a:solidFill>
                <a:latin typeface="Cambria"/>
                <a:ea typeface="Cambria"/>
                <a:cs typeface="Cambria"/>
                <a:sym typeface="Cambria"/>
              </a:rPr>
              <a:t>SM</a:t>
            </a:r>
            <a:endParaRPr b="0" i="0" sz="2800" u="none" cap="none" strike="noStrike">
              <a:solidFill>
                <a:schemeClr val="dk1"/>
              </a:solidFill>
              <a:latin typeface="Calibri"/>
              <a:ea typeface="Calibri"/>
              <a:cs typeface="Calibri"/>
              <a:sym typeface="Calibri"/>
            </a:endParaRPr>
          </a:p>
        </p:txBody>
      </p:sp>
      <p:sp>
        <p:nvSpPr>
          <p:cNvPr id="187" name="Google Shape;187;p4"/>
          <p:cNvSpPr txBox="1"/>
          <p:nvPr>
            <p:ph type="title"/>
          </p:nvPr>
        </p:nvSpPr>
        <p:spPr>
          <a:xfrm>
            <a:off x="274320" y="1810512"/>
            <a:ext cx="2560320" cy="41148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lt1"/>
              </a:buClr>
              <a:buSzPts val="2200"/>
              <a:buFont typeface="Cambria"/>
              <a:buNone/>
            </a:pPr>
            <a:r>
              <a:rPr b="1" lang="en-US" sz="2200">
                <a:solidFill>
                  <a:schemeClr val="lt1"/>
                </a:solidFill>
                <a:latin typeface="Cambria"/>
                <a:ea typeface="Cambria"/>
                <a:cs typeface="Cambria"/>
                <a:sym typeface="Cambria"/>
              </a:rPr>
              <a:t>Sofía Morales</a:t>
            </a:r>
            <a:endParaRPr sz="2200"/>
          </a:p>
        </p:txBody>
      </p:sp>
      <p:sp>
        <p:nvSpPr>
          <p:cNvPr id="188" name="Google Shape;188;p4"/>
          <p:cNvSpPr/>
          <p:nvPr/>
        </p:nvSpPr>
        <p:spPr>
          <a:xfrm>
            <a:off x="758038" y="2286000"/>
            <a:ext cx="1592885" cy="274320"/>
          </a:xfrm>
          <a:prstGeom prst="roundRect">
            <a:avLst>
              <a:gd fmla="val 50000" name="adj"/>
            </a:avLst>
          </a:pr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
          <p:cNvSpPr txBox="1"/>
          <p:nvPr/>
        </p:nvSpPr>
        <p:spPr>
          <a:xfrm>
            <a:off x="758038" y="2286000"/>
            <a:ext cx="1592885"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950"/>
              <a:buFont typeface="Calibri"/>
              <a:buNone/>
            </a:pPr>
            <a:r>
              <a:rPr b="1" i="0" lang="en-US" sz="950" u="none" cap="none" strike="noStrike">
                <a:solidFill>
                  <a:schemeClr val="lt1"/>
                </a:solidFill>
                <a:latin typeface="Calibri"/>
                <a:ea typeface="Calibri"/>
                <a:cs typeface="Calibri"/>
                <a:sym typeface="Calibri"/>
              </a:rPr>
              <a:t>Volunteer · Student</a:t>
            </a:r>
            <a:endParaRPr b="0" i="0" sz="950" u="none" cap="none" strike="noStrike">
              <a:solidFill>
                <a:schemeClr val="dk1"/>
              </a:solidFill>
              <a:latin typeface="Calibri"/>
              <a:ea typeface="Calibri"/>
              <a:cs typeface="Calibri"/>
              <a:sym typeface="Calibri"/>
            </a:endParaRPr>
          </a:p>
        </p:txBody>
      </p:sp>
      <p:pic>
        <p:nvPicPr>
          <p:cNvPr descr="preencoded.png" id="190" name="Google Shape;190;p4"/>
          <p:cNvPicPr preferRelativeResize="0"/>
          <p:nvPr/>
        </p:nvPicPr>
        <p:blipFill rotWithShape="1">
          <a:blip r:embed="rId3">
            <a:alphaModFix/>
          </a:blip>
          <a:srcRect b="0" l="0" r="0" t="0"/>
          <a:stretch/>
        </p:blipFill>
        <p:spPr>
          <a:xfrm>
            <a:off x="365760" y="2825496"/>
            <a:ext cx="201168" cy="201168"/>
          </a:xfrm>
          <a:prstGeom prst="rect">
            <a:avLst/>
          </a:prstGeom>
          <a:noFill/>
          <a:ln>
            <a:noFill/>
          </a:ln>
        </p:spPr>
      </p:pic>
      <p:sp>
        <p:nvSpPr>
          <p:cNvPr id="191" name="Google Shape;191;p4"/>
          <p:cNvSpPr txBox="1"/>
          <p:nvPr/>
        </p:nvSpPr>
        <p:spPr>
          <a:xfrm>
            <a:off x="658368" y="2788920"/>
            <a:ext cx="64008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AGE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24</a:t>
            </a:r>
            <a:endParaRPr b="0" i="0" sz="750" u="none" cap="none" strike="noStrike">
              <a:solidFill>
                <a:schemeClr val="dk1"/>
              </a:solidFill>
              <a:latin typeface="Calibri"/>
              <a:ea typeface="Calibri"/>
              <a:cs typeface="Calibri"/>
              <a:sym typeface="Calibri"/>
            </a:endParaRPr>
          </a:p>
        </p:txBody>
      </p:sp>
      <p:pic>
        <p:nvPicPr>
          <p:cNvPr descr="preencoded.png" id="192" name="Google Shape;192;p4"/>
          <p:cNvPicPr preferRelativeResize="0"/>
          <p:nvPr/>
        </p:nvPicPr>
        <p:blipFill rotWithShape="1">
          <a:blip r:embed="rId4">
            <a:alphaModFix/>
          </a:blip>
          <a:srcRect b="0" l="0" r="0" t="0"/>
          <a:stretch/>
        </p:blipFill>
        <p:spPr>
          <a:xfrm>
            <a:off x="1371600" y="2825496"/>
            <a:ext cx="201168" cy="201168"/>
          </a:xfrm>
          <a:prstGeom prst="rect">
            <a:avLst/>
          </a:prstGeom>
          <a:noFill/>
          <a:ln>
            <a:noFill/>
          </a:ln>
        </p:spPr>
      </p:pic>
      <p:sp>
        <p:nvSpPr>
          <p:cNvPr id="193" name="Google Shape;193;p4"/>
          <p:cNvSpPr txBox="1"/>
          <p:nvPr/>
        </p:nvSpPr>
        <p:spPr>
          <a:xfrm>
            <a:off x="1664208" y="2788920"/>
            <a:ext cx="141732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LOCATION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Temuco, Chile</a:t>
            </a:r>
            <a:endParaRPr b="0" i="0" sz="750" u="none" cap="none" strike="noStrike">
              <a:solidFill>
                <a:schemeClr val="dk1"/>
              </a:solidFill>
              <a:latin typeface="Calibri"/>
              <a:ea typeface="Calibri"/>
              <a:cs typeface="Calibri"/>
              <a:sym typeface="Calibri"/>
            </a:endParaRPr>
          </a:p>
        </p:txBody>
      </p:sp>
      <p:pic>
        <p:nvPicPr>
          <p:cNvPr descr="preencoded.png" id="194" name="Google Shape;194;p4"/>
          <p:cNvPicPr preferRelativeResize="0"/>
          <p:nvPr/>
        </p:nvPicPr>
        <p:blipFill rotWithShape="1">
          <a:blip r:embed="rId5">
            <a:alphaModFix/>
          </a:blip>
          <a:srcRect b="0" l="0" r="0" t="0"/>
          <a:stretch/>
        </p:blipFill>
        <p:spPr>
          <a:xfrm>
            <a:off x="365760" y="3328416"/>
            <a:ext cx="201168" cy="201168"/>
          </a:xfrm>
          <a:prstGeom prst="rect">
            <a:avLst/>
          </a:prstGeom>
          <a:noFill/>
          <a:ln>
            <a:noFill/>
          </a:ln>
        </p:spPr>
      </p:pic>
      <p:sp>
        <p:nvSpPr>
          <p:cNvPr id="195" name="Google Shape;195;p4"/>
          <p:cNvSpPr txBox="1"/>
          <p:nvPr/>
        </p:nvSpPr>
        <p:spPr>
          <a:xfrm>
            <a:off x="658368" y="329184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OCCUPATION</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Student</a:t>
            </a:r>
            <a:endParaRPr b="0" i="0" sz="750" u="none" cap="none" strike="noStrike">
              <a:solidFill>
                <a:schemeClr val="dk1"/>
              </a:solidFill>
              <a:latin typeface="Calibri"/>
              <a:ea typeface="Calibri"/>
              <a:cs typeface="Calibri"/>
              <a:sym typeface="Calibri"/>
            </a:endParaRPr>
          </a:p>
        </p:txBody>
      </p:sp>
      <p:pic>
        <p:nvPicPr>
          <p:cNvPr descr="preencoded.png" id="196" name="Google Shape;196;p4"/>
          <p:cNvPicPr preferRelativeResize="0"/>
          <p:nvPr/>
        </p:nvPicPr>
        <p:blipFill rotWithShape="1">
          <a:blip r:embed="rId6">
            <a:alphaModFix/>
          </a:blip>
          <a:srcRect b="0" l="0" r="0" t="0"/>
          <a:stretch/>
        </p:blipFill>
        <p:spPr>
          <a:xfrm>
            <a:off x="365760" y="3831336"/>
            <a:ext cx="201168" cy="201168"/>
          </a:xfrm>
          <a:prstGeom prst="rect">
            <a:avLst/>
          </a:prstGeom>
          <a:noFill/>
          <a:ln>
            <a:noFill/>
          </a:ln>
        </p:spPr>
      </p:pic>
      <p:sp>
        <p:nvSpPr>
          <p:cNvPr id="197" name="Google Shape;197;p4"/>
          <p:cNvSpPr txBox="1"/>
          <p:nvPr/>
        </p:nvSpPr>
        <p:spPr>
          <a:xfrm>
            <a:off x="658368" y="379476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DEVICE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Smartphone</a:t>
            </a:r>
            <a:endParaRPr b="0" i="0" sz="750" u="none" cap="none" strike="noStrike">
              <a:solidFill>
                <a:schemeClr val="dk1"/>
              </a:solidFill>
              <a:latin typeface="Calibri"/>
              <a:ea typeface="Calibri"/>
              <a:cs typeface="Calibri"/>
              <a:sym typeface="Calibri"/>
            </a:endParaRPr>
          </a:p>
        </p:txBody>
      </p:sp>
      <p:pic>
        <p:nvPicPr>
          <p:cNvPr descr="preencoded.png" id="198" name="Google Shape;198;p4"/>
          <p:cNvPicPr preferRelativeResize="0"/>
          <p:nvPr/>
        </p:nvPicPr>
        <p:blipFill rotWithShape="1">
          <a:blip r:embed="rId7">
            <a:alphaModFix/>
          </a:blip>
          <a:srcRect b="0" l="0" r="0" t="0"/>
          <a:stretch/>
        </p:blipFill>
        <p:spPr>
          <a:xfrm>
            <a:off x="365760" y="4334256"/>
            <a:ext cx="201168" cy="201168"/>
          </a:xfrm>
          <a:prstGeom prst="rect">
            <a:avLst/>
          </a:prstGeom>
          <a:noFill/>
          <a:ln>
            <a:noFill/>
          </a:ln>
        </p:spPr>
      </p:pic>
      <p:sp>
        <p:nvSpPr>
          <p:cNvPr id="199" name="Google Shape;199;p4"/>
          <p:cNvSpPr txBox="1"/>
          <p:nvPr/>
        </p:nvSpPr>
        <p:spPr>
          <a:xfrm>
            <a:off x="658368" y="4297680"/>
            <a:ext cx="2377440" cy="3840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750"/>
              <a:buFont typeface="Calibri"/>
              <a:buNone/>
            </a:pPr>
            <a:r>
              <a:rPr b="0" i="0" lang="en-US" sz="750" u="none" cap="none" strike="noStrike">
                <a:solidFill>
                  <a:schemeClr val="lt1"/>
                </a:solidFill>
                <a:latin typeface="Calibri"/>
                <a:ea typeface="Calibri"/>
                <a:cs typeface="Calibri"/>
                <a:sym typeface="Calibri"/>
              </a:rPr>
              <a:t>DIGITAL LEVEL</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High (digital native)</a:t>
            </a:r>
            <a:endParaRPr b="0" i="0" sz="750" u="none" cap="none" strike="noStrike">
              <a:solidFill>
                <a:schemeClr val="dk1"/>
              </a:solidFill>
              <a:latin typeface="Calibri"/>
              <a:ea typeface="Calibri"/>
              <a:cs typeface="Calibri"/>
              <a:sym typeface="Calibri"/>
            </a:endParaRPr>
          </a:p>
        </p:txBody>
      </p:sp>
      <p:sp>
        <p:nvSpPr>
          <p:cNvPr id="200" name="Google Shape;200;p4"/>
          <p:cNvSpPr/>
          <p:nvPr/>
        </p:nvSpPr>
        <p:spPr>
          <a:xfrm>
            <a:off x="1737360"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1892808"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a:off x="2048256"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4"/>
          <p:cNvSpPr/>
          <p:nvPr/>
        </p:nvSpPr>
        <p:spPr>
          <a:xfrm>
            <a:off x="2203704"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
          <p:cNvSpPr/>
          <p:nvPr/>
        </p:nvSpPr>
        <p:spPr>
          <a:xfrm>
            <a:off x="2359152" y="4311396"/>
            <a:ext cx="91440" cy="914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p:nvPr/>
        </p:nvSpPr>
        <p:spPr>
          <a:xfrm>
            <a:off x="3474720" y="365760"/>
            <a:ext cx="5303520" cy="914400"/>
          </a:xfrm>
          <a:prstGeom prst="roundRect">
            <a:avLst>
              <a:gd fmla="val 12000" name="adj"/>
            </a:avLst>
          </a:prstGeom>
          <a:solidFill>
            <a:schemeClr val="accent4">
              <a:alpha val="12157"/>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6" name="Google Shape;206;p4"/>
          <p:cNvPicPr preferRelativeResize="0"/>
          <p:nvPr/>
        </p:nvPicPr>
        <p:blipFill rotWithShape="1">
          <a:blip r:embed="rId8">
            <a:alphaModFix/>
          </a:blip>
          <a:srcRect b="0" l="0" r="0" t="0"/>
          <a:stretch/>
        </p:blipFill>
        <p:spPr>
          <a:xfrm>
            <a:off x="3657600" y="502920"/>
            <a:ext cx="292608" cy="292608"/>
          </a:xfrm>
          <a:prstGeom prst="rect">
            <a:avLst/>
          </a:prstGeom>
          <a:noFill/>
          <a:ln>
            <a:noFill/>
          </a:ln>
        </p:spPr>
      </p:pic>
      <p:sp>
        <p:nvSpPr>
          <p:cNvPr id="207" name="Google Shape;207;p4"/>
          <p:cNvSpPr txBox="1"/>
          <p:nvPr/>
        </p:nvSpPr>
        <p:spPr>
          <a:xfrm>
            <a:off x="4114800" y="411480"/>
            <a:ext cx="452628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Calibri"/>
              <a:buNone/>
            </a:pPr>
            <a:r>
              <a:rPr b="0" i="1" lang="en-US" sz="1150" u="none" cap="none" strike="noStrike">
                <a:solidFill>
                  <a:schemeClr val="dk1"/>
                </a:solidFill>
                <a:latin typeface="Calibri"/>
                <a:ea typeface="Calibri"/>
                <a:cs typeface="Calibri"/>
                <a:sym typeface="Calibri"/>
              </a:rPr>
              <a:t>I have the whole Friday afternoon free to help, but in the WhatsApp group I get lost among so many messages and I don't know who needs which errand or what time to go.</a:t>
            </a:r>
            <a:endParaRPr b="0" i="0" sz="1150" u="none" cap="none" strike="noStrike">
              <a:solidFill>
                <a:schemeClr val="dk1"/>
              </a:solidFill>
              <a:latin typeface="Calibri"/>
              <a:ea typeface="Calibri"/>
              <a:cs typeface="Calibri"/>
              <a:sym typeface="Calibri"/>
            </a:endParaRPr>
          </a:p>
        </p:txBody>
      </p:sp>
      <p:sp>
        <p:nvSpPr>
          <p:cNvPr id="208" name="Google Shape;208;p4"/>
          <p:cNvSpPr txBox="1"/>
          <p:nvPr/>
        </p:nvSpPr>
        <p:spPr>
          <a:xfrm>
            <a:off x="3474720" y="1389888"/>
            <a:ext cx="530352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050"/>
              <a:buFont typeface="Calibri"/>
              <a:buNone/>
            </a:pPr>
            <a:r>
              <a:rPr b="1" i="0" lang="en-US" sz="1050" u="none" cap="none" strike="noStrike">
                <a:solidFill>
                  <a:schemeClr val="accent4"/>
                </a:solidFill>
                <a:latin typeface="Calibri"/>
                <a:ea typeface="Calibri"/>
                <a:cs typeface="Calibri"/>
                <a:sym typeface="Calibri"/>
              </a:rPr>
              <a:t>About Sofía  </a:t>
            </a:r>
            <a:r>
              <a:rPr b="0" i="0" lang="en-US" sz="1050" u="none" cap="none" strike="noStrike">
                <a:solidFill>
                  <a:schemeClr val="dk1"/>
                </a:solidFill>
                <a:latin typeface="Calibri"/>
                <a:ea typeface="Calibri"/>
                <a:cs typeface="Calibri"/>
                <a:sym typeface="Calibri"/>
              </a:rPr>
              <a:t>Sofía is a 24-year-old who takes part in the municipality's digital literacy outreach. She is a digital native and quick with technology, but finds it hard to coordinate with older adults.</a:t>
            </a:r>
            <a:endParaRPr b="0" i="0" sz="1050" u="none" cap="none" strike="noStrike">
              <a:solidFill>
                <a:schemeClr val="dk1"/>
              </a:solidFill>
              <a:latin typeface="Calibri"/>
              <a:ea typeface="Calibri"/>
              <a:cs typeface="Calibri"/>
              <a:sym typeface="Calibri"/>
            </a:endParaRPr>
          </a:p>
        </p:txBody>
      </p:sp>
      <p:sp>
        <p:nvSpPr>
          <p:cNvPr id="209" name="Google Shape;209;p4"/>
          <p:cNvSpPr/>
          <p:nvPr/>
        </p:nvSpPr>
        <p:spPr>
          <a:xfrm>
            <a:off x="347472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p:nvPr/>
        </p:nvSpPr>
        <p:spPr>
          <a:xfrm>
            <a:off x="3657600" y="2221992"/>
            <a:ext cx="329184" cy="3291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1" name="Google Shape;211;p4"/>
          <p:cNvPicPr preferRelativeResize="0"/>
          <p:nvPr/>
        </p:nvPicPr>
        <p:blipFill rotWithShape="1">
          <a:blip r:embed="rId9">
            <a:alphaModFix/>
          </a:blip>
          <a:srcRect b="0" l="0" r="0" t="0"/>
          <a:stretch/>
        </p:blipFill>
        <p:spPr>
          <a:xfrm>
            <a:off x="3730752" y="2295144"/>
            <a:ext cx="182880" cy="182880"/>
          </a:xfrm>
          <a:prstGeom prst="rect">
            <a:avLst/>
          </a:prstGeom>
          <a:noFill/>
          <a:ln>
            <a:noFill/>
          </a:ln>
        </p:spPr>
      </p:pic>
      <p:sp>
        <p:nvSpPr>
          <p:cNvPr id="212" name="Google Shape;212;p4"/>
          <p:cNvSpPr txBox="1"/>
          <p:nvPr/>
        </p:nvSpPr>
        <p:spPr>
          <a:xfrm>
            <a:off x="407822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Frustrations</a:t>
            </a:r>
            <a:endParaRPr b="0" i="0" sz="1300" u="none" cap="none" strike="noStrike">
              <a:solidFill>
                <a:schemeClr val="dk1"/>
              </a:solidFill>
              <a:latin typeface="Calibri"/>
              <a:ea typeface="Calibri"/>
              <a:cs typeface="Calibri"/>
              <a:sym typeface="Calibri"/>
            </a:endParaRPr>
          </a:p>
        </p:txBody>
      </p:sp>
      <p:sp>
        <p:nvSpPr>
          <p:cNvPr id="213" name="Google Shape;213;p4"/>
          <p:cNvSpPr txBox="1"/>
          <p:nvPr/>
        </p:nvSpPr>
        <p:spPr>
          <a:xfrm>
            <a:off x="363016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She wastes time coordinating and helping through WhatsApp chats.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She gets lost among so many messages and doesn't know who needs what.</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She sometimes feels her time isn't respected.</a:t>
            </a:r>
            <a:endParaRPr b="0" i="0" sz="1000" u="none" cap="none" strike="noStrike">
              <a:solidFill>
                <a:schemeClr val="dk1"/>
              </a:solidFill>
              <a:latin typeface="Calibri"/>
              <a:ea typeface="Calibri"/>
              <a:cs typeface="Calibri"/>
              <a:sym typeface="Calibri"/>
            </a:endParaRPr>
          </a:p>
        </p:txBody>
      </p:sp>
      <p:sp>
        <p:nvSpPr>
          <p:cNvPr id="214" name="Google Shape;214;p4"/>
          <p:cNvSpPr/>
          <p:nvPr/>
        </p:nvSpPr>
        <p:spPr>
          <a:xfrm>
            <a:off x="6263640" y="2084832"/>
            <a:ext cx="2514600" cy="2011680"/>
          </a:xfrm>
          <a:prstGeom prst="roundRect">
            <a:avLst>
              <a:gd fmla="val 4545" name="adj"/>
            </a:avLst>
          </a:prstGeom>
          <a:solidFill>
            <a:schemeClr val="lt1"/>
          </a:solidFill>
          <a:ln>
            <a:noFill/>
          </a:ln>
          <a:effectLst>
            <a:outerShdw blurRad="1270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
          <p:cNvSpPr/>
          <p:nvPr/>
        </p:nvSpPr>
        <p:spPr>
          <a:xfrm>
            <a:off x="6446520" y="2221992"/>
            <a:ext cx="329184" cy="329184"/>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6" name="Google Shape;216;p4"/>
          <p:cNvPicPr preferRelativeResize="0"/>
          <p:nvPr/>
        </p:nvPicPr>
        <p:blipFill rotWithShape="1">
          <a:blip r:embed="rId10">
            <a:alphaModFix/>
          </a:blip>
          <a:srcRect b="0" l="0" r="0" t="0"/>
          <a:stretch/>
        </p:blipFill>
        <p:spPr>
          <a:xfrm>
            <a:off x="6519672" y="2295144"/>
            <a:ext cx="182880" cy="182880"/>
          </a:xfrm>
          <a:prstGeom prst="rect">
            <a:avLst/>
          </a:prstGeom>
          <a:noFill/>
          <a:ln>
            <a:noFill/>
          </a:ln>
        </p:spPr>
      </p:pic>
      <p:sp>
        <p:nvSpPr>
          <p:cNvPr id="217" name="Google Shape;217;p4"/>
          <p:cNvSpPr txBox="1"/>
          <p:nvPr/>
        </p:nvSpPr>
        <p:spPr>
          <a:xfrm>
            <a:off x="6867144" y="2221992"/>
            <a:ext cx="17373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300"/>
              <a:buFont typeface="Cambria"/>
              <a:buNone/>
            </a:pPr>
            <a:r>
              <a:rPr b="1" i="0" lang="en-US" sz="1300" u="none" cap="none" strike="noStrike">
                <a:solidFill>
                  <a:schemeClr val="dk1"/>
                </a:solidFill>
                <a:latin typeface="Cambria"/>
                <a:ea typeface="Cambria"/>
                <a:cs typeface="Cambria"/>
                <a:sym typeface="Cambria"/>
              </a:rPr>
              <a:t>Goals</a:t>
            </a:r>
            <a:endParaRPr b="0" i="0" sz="1300" u="none" cap="none" strike="noStrike">
              <a:solidFill>
                <a:schemeClr val="dk1"/>
              </a:solidFill>
              <a:latin typeface="Calibri"/>
              <a:ea typeface="Calibri"/>
              <a:cs typeface="Calibri"/>
              <a:sym typeface="Calibri"/>
            </a:endParaRPr>
          </a:p>
        </p:txBody>
      </p:sp>
      <p:sp>
        <p:nvSpPr>
          <p:cNvPr id="218" name="Google Shape;218;p4"/>
          <p:cNvSpPr txBox="1"/>
          <p:nvPr/>
        </p:nvSpPr>
        <p:spPr>
          <a:xfrm>
            <a:off x="6419088" y="2660904"/>
            <a:ext cx="2221992" cy="1353312"/>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Organize her time reliably and efficiently.</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Keep an organized record of the people she helps.</a:t>
            </a:r>
            <a:endParaRPr b="0" i="0" sz="1000" u="none" cap="none" strike="noStrike">
              <a:solidFill>
                <a:schemeClr val="dk1"/>
              </a:solidFill>
              <a:latin typeface="Calibri"/>
              <a:ea typeface="Calibri"/>
              <a:cs typeface="Calibri"/>
              <a:sym typeface="Calibri"/>
            </a:endParaRPr>
          </a:p>
          <a:p>
            <a:pPr indent="-139700" lvl="0" marL="139700" marR="0" rtl="0" algn="l">
              <a:spcBef>
                <a:spcPts val="400"/>
              </a:spcBef>
              <a:spcAft>
                <a:spcPts val="0"/>
              </a:spcAft>
              <a:buClr>
                <a:schemeClr val="dk1"/>
              </a:buClr>
              <a:buSzPts val="1000"/>
              <a:buFont typeface="Calibri"/>
              <a:buChar char="•"/>
            </a:pPr>
            <a:r>
              <a:rPr b="0" i="0" lang="en-US" sz="1000" u="none" cap="none" strike="noStrike">
                <a:solidFill>
                  <a:schemeClr val="dk1"/>
                </a:solidFill>
                <a:latin typeface="Calibri"/>
                <a:ea typeface="Calibri"/>
                <a:cs typeface="Calibri"/>
                <a:sym typeface="Calibri"/>
              </a:rPr>
              <a:t>Build trust right away with the older adults she assists.</a:t>
            </a:r>
            <a:endParaRPr b="0" i="0" sz="1000" u="none" cap="none" strike="noStrike">
              <a:solidFill>
                <a:schemeClr val="dk1"/>
              </a:solidFill>
              <a:latin typeface="Calibri"/>
              <a:ea typeface="Calibri"/>
              <a:cs typeface="Calibri"/>
              <a:sym typeface="Calibri"/>
            </a:endParaRPr>
          </a:p>
        </p:txBody>
      </p:sp>
      <p:pic>
        <p:nvPicPr>
          <p:cNvPr descr="preencoded.png" id="219" name="Google Shape;219;p4"/>
          <p:cNvPicPr preferRelativeResize="0"/>
          <p:nvPr/>
        </p:nvPicPr>
        <p:blipFill rotWithShape="1">
          <a:blip r:embed="rId11">
            <a:alphaModFix/>
          </a:blip>
          <a:srcRect b="0" l="0" r="0" t="0"/>
          <a:stretch/>
        </p:blipFill>
        <p:spPr>
          <a:xfrm>
            <a:off x="3474720" y="4261104"/>
            <a:ext cx="201168" cy="201168"/>
          </a:xfrm>
          <a:prstGeom prst="rect">
            <a:avLst/>
          </a:prstGeom>
          <a:noFill/>
          <a:ln>
            <a:noFill/>
          </a:ln>
        </p:spPr>
      </p:pic>
      <p:sp>
        <p:nvSpPr>
          <p:cNvPr id="220" name="Google Shape;220;p4"/>
          <p:cNvSpPr txBox="1"/>
          <p:nvPr/>
        </p:nvSpPr>
        <p:spPr>
          <a:xfrm>
            <a:off x="3730752" y="4224528"/>
            <a:ext cx="7772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1" i="0" lang="en-US" sz="1100" u="none" cap="none" strike="noStrike">
                <a:solidFill>
                  <a:schemeClr val="accent4"/>
                </a:solidFill>
                <a:latin typeface="Calibri"/>
                <a:ea typeface="Calibri"/>
                <a:cs typeface="Calibri"/>
                <a:sym typeface="Calibri"/>
              </a:rPr>
              <a:t>Interests</a:t>
            </a:r>
            <a:endParaRPr b="0" i="0" sz="1100" u="none" cap="none" strike="noStrike">
              <a:solidFill>
                <a:schemeClr val="dk1"/>
              </a:solidFill>
              <a:latin typeface="Calibri"/>
              <a:ea typeface="Calibri"/>
              <a:cs typeface="Calibri"/>
              <a:sym typeface="Calibri"/>
            </a:endParaRPr>
          </a:p>
        </p:txBody>
      </p:sp>
      <p:sp>
        <p:nvSpPr>
          <p:cNvPr id="221" name="Google Shape;221;p4"/>
          <p:cNvSpPr/>
          <p:nvPr/>
        </p:nvSpPr>
        <p:spPr>
          <a:xfrm>
            <a:off x="4526280" y="4224528"/>
            <a:ext cx="743407" cy="274320"/>
          </a:xfrm>
          <a:prstGeom prst="roundRect">
            <a:avLst>
              <a:gd fmla="val 50000" name="adj"/>
            </a:avLst>
          </a:prstGeom>
          <a:solidFill>
            <a:schemeClr val="accent4">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
          <p:cNvSpPr txBox="1"/>
          <p:nvPr/>
        </p:nvSpPr>
        <p:spPr>
          <a:xfrm>
            <a:off x="4526280" y="4224528"/>
            <a:ext cx="74340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950"/>
              <a:buFont typeface="Calibri"/>
              <a:buNone/>
            </a:pPr>
            <a:r>
              <a:rPr b="1" i="0" lang="en-US" sz="950" u="none" cap="none" strike="noStrike">
                <a:solidFill>
                  <a:schemeClr val="accent4"/>
                </a:solidFill>
                <a:latin typeface="Calibri"/>
                <a:ea typeface="Calibri"/>
                <a:cs typeface="Calibri"/>
                <a:sym typeface="Calibri"/>
              </a:rPr>
              <a:t>TV series</a:t>
            </a:r>
            <a:endParaRPr b="0" i="0" sz="950" u="none" cap="none" strike="noStrike">
              <a:solidFill>
                <a:schemeClr val="dk1"/>
              </a:solidFill>
              <a:latin typeface="Calibri"/>
              <a:ea typeface="Calibri"/>
              <a:cs typeface="Calibri"/>
              <a:sym typeface="Calibri"/>
            </a:endParaRPr>
          </a:p>
        </p:txBody>
      </p:sp>
      <p:sp>
        <p:nvSpPr>
          <p:cNvPr id="223" name="Google Shape;223;p4"/>
          <p:cNvSpPr/>
          <p:nvPr/>
        </p:nvSpPr>
        <p:spPr>
          <a:xfrm>
            <a:off x="5379415" y="4224528"/>
            <a:ext cx="1160374" cy="274320"/>
          </a:xfrm>
          <a:prstGeom prst="roundRect">
            <a:avLst>
              <a:gd fmla="val 50000" name="adj"/>
            </a:avLst>
          </a:prstGeom>
          <a:solidFill>
            <a:schemeClr val="accent4">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
          <p:cNvSpPr txBox="1"/>
          <p:nvPr/>
        </p:nvSpPr>
        <p:spPr>
          <a:xfrm>
            <a:off x="5379415" y="4224528"/>
            <a:ext cx="116037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950"/>
              <a:buFont typeface="Calibri"/>
              <a:buNone/>
            </a:pPr>
            <a:r>
              <a:rPr b="1" i="0" lang="en-US" sz="950" u="none" cap="none" strike="noStrike">
                <a:solidFill>
                  <a:schemeClr val="accent4"/>
                </a:solidFill>
                <a:latin typeface="Calibri"/>
                <a:ea typeface="Calibri"/>
                <a:cs typeface="Calibri"/>
                <a:sym typeface="Calibri"/>
              </a:rPr>
              <a:t>Digital inclusion</a:t>
            </a:r>
            <a:endParaRPr b="0" i="0" sz="950" u="none" cap="none" strike="noStrike">
              <a:solidFill>
                <a:schemeClr val="dk1"/>
              </a:solidFill>
              <a:latin typeface="Calibri"/>
              <a:ea typeface="Calibri"/>
              <a:cs typeface="Calibri"/>
              <a:sym typeface="Calibri"/>
            </a:endParaRPr>
          </a:p>
        </p:txBody>
      </p:sp>
      <p:sp>
        <p:nvSpPr>
          <p:cNvPr id="225" name="Google Shape;225;p4"/>
          <p:cNvSpPr/>
          <p:nvPr/>
        </p:nvSpPr>
        <p:spPr>
          <a:xfrm>
            <a:off x="4526280" y="4572000"/>
            <a:ext cx="2359152" cy="274320"/>
          </a:xfrm>
          <a:prstGeom prst="roundRect">
            <a:avLst>
              <a:gd fmla="val 50000" name="adj"/>
            </a:avLst>
          </a:prstGeom>
          <a:solidFill>
            <a:schemeClr val="accent4">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txBox="1"/>
          <p:nvPr/>
        </p:nvSpPr>
        <p:spPr>
          <a:xfrm>
            <a:off x="4526280" y="4572000"/>
            <a:ext cx="235915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950"/>
              <a:buFont typeface="Calibri"/>
              <a:buNone/>
            </a:pPr>
            <a:r>
              <a:rPr b="1" i="0" lang="en-US" sz="950" u="none" cap="none" strike="noStrike">
                <a:solidFill>
                  <a:schemeClr val="accent4"/>
                </a:solidFill>
                <a:latin typeface="Calibri"/>
                <a:ea typeface="Calibri"/>
                <a:cs typeface="Calibri"/>
                <a:sym typeface="Calibri"/>
              </a:rPr>
              <a:t>Taking part in social support activities</a:t>
            </a:r>
            <a:endParaRPr b="0" i="0" sz="950" u="none" cap="none" strike="noStrike">
              <a:solidFill>
                <a:schemeClr val="dk1"/>
              </a:solidFill>
              <a:latin typeface="Calibri"/>
              <a:ea typeface="Calibri"/>
              <a:cs typeface="Calibri"/>
              <a:sym typeface="Calibri"/>
            </a:endParaRPr>
          </a:p>
        </p:txBody>
      </p:sp>
      <p:sp>
        <p:nvSpPr>
          <p:cNvPr id="227" name="Google Shape;227;p4"/>
          <p:cNvSpPr/>
          <p:nvPr/>
        </p:nvSpPr>
        <p:spPr>
          <a:xfrm>
            <a:off x="6995160" y="4572000"/>
            <a:ext cx="899770" cy="274320"/>
          </a:xfrm>
          <a:prstGeom prst="roundRect">
            <a:avLst>
              <a:gd fmla="val 50000" name="adj"/>
            </a:avLst>
          </a:prstGeom>
          <a:solidFill>
            <a:schemeClr val="accent4">
              <a:alpha val="1490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
          <p:cNvSpPr txBox="1"/>
          <p:nvPr/>
        </p:nvSpPr>
        <p:spPr>
          <a:xfrm>
            <a:off x="6995160" y="4572000"/>
            <a:ext cx="89977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4"/>
              </a:buClr>
              <a:buSzPts val="950"/>
              <a:buFont typeface="Calibri"/>
              <a:buNone/>
            </a:pPr>
            <a:r>
              <a:rPr b="1" i="0" lang="en-US" sz="950" u="none" cap="none" strike="noStrike">
                <a:solidFill>
                  <a:schemeClr val="accent4"/>
                </a:solidFill>
                <a:latin typeface="Calibri"/>
                <a:ea typeface="Calibri"/>
                <a:cs typeface="Calibri"/>
                <a:sym typeface="Calibri"/>
              </a:rPr>
              <a:t>Social media</a:t>
            </a:r>
            <a:endParaRPr b="0" i="0" sz="950" u="none" cap="none" strike="noStrike">
              <a:solidFill>
                <a:schemeClr val="dk1"/>
              </a:solidFill>
              <a:latin typeface="Calibri"/>
              <a:ea typeface="Calibri"/>
              <a:cs typeface="Calibri"/>
              <a:sym typeface="Calibri"/>
            </a:endParaRPr>
          </a:p>
        </p:txBody>
      </p:sp>
      <p:pic>
        <p:nvPicPr>
          <p:cNvPr id="229" name="Google Shape;229;p4"/>
          <p:cNvPicPr preferRelativeResize="0"/>
          <p:nvPr/>
        </p:nvPicPr>
        <p:blipFill rotWithShape="1">
          <a:blip r:embed="rId12">
            <a:alphaModFix/>
          </a:blip>
          <a:srcRect b="0" l="11650" r="21550" t="0"/>
          <a:stretch/>
        </p:blipFill>
        <p:spPr>
          <a:xfrm>
            <a:off x="886001" y="429788"/>
            <a:ext cx="1336993" cy="13350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UX Personas P14">
  <a:themeElements>
    <a:clrScheme name="UX Personas P14">
      <a:dk1>
        <a:srgbClr val="2B2A33"/>
      </a:dk1>
      <a:lt1>
        <a:srgbClr val="FFFFFF"/>
      </a:lt1>
      <a:dk2>
        <a:srgbClr val="2A2940"/>
      </a:dk2>
      <a:lt2>
        <a:srgbClr val="F3F2F6"/>
      </a:lt2>
      <a:accent1>
        <a:srgbClr val="9A4166"/>
      </a:accent1>
      <a:accent2>
        <a:srgbClr val="3E6E58"/>
      </a:accent2>
      <a:accent3>
        <a:srgbClr val="35557A"/>
      </a:accent3>
      <a:accent4>
        <a:srgbClr val="B4562F"/>
      </a:accent4>
      <a:accent5>
        <a:srgbClr val="E3B04B"/>
      </a:accent5>
      <a:accent6>
        <a:srgbClr val="6E6C80"/>
      </a:accent6>
      <a:hlink>
        <a:srgbClr val="35557A"/>
      </a:hlink>
      <a:folHlink>
        <a:srgbClr val="6E6C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UX Personas P14">
  <a:themeElements>
    <a:clrScheme name="UX Personas P14">
      <a:dk1>
        <a:srgbClr val="2B2A33"/>
      </a:dk1>
      <a:lt1>
        <a:srgbClr val="FFFFFF"/>
      </a:lt1>
      <a:dk2>
        <a:srgbClr val="2A2940"/>
      </a:dk2>
      <a:lt2>
        <a:srgbClr val="F3F2F6"/>
      </a:lt2>
      <a:accent1>
        <a:srgbClr val="9A4166"/>
      </a:accent1>
      <a:accent2>
        <a:srgbClr val="3E6E58"/>
      </a:accent2>
      <a:accent3>
        <a:srgbClr val="35557A"/>
      </a:accent3>
      <a:accent4>
        <a:srgbClr val="B4562F"/>
      </a:accent4>
      <a:accent5>
        <a:srgbClr val="E3B04B"/>
      </a:accent5>
      <a:accent6>
        <a:srgbClr val="6E6C80"/>
      </a:accent6>
      <a:hlink>
        <a:srgbClr val="35557A"/>
      </a:hlink>
      <a:folHlink>
        <a:srgbClr val="6E6C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2026-10-02T12:13:38Z</dcterms:created>
  <dc:creator>PptxGenJS</dc:creator>
</cp:coreProperties>
</file>